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b070c32-0507-305f-7a8f-185aa4df5620}">
          <p14:sldIdLst>
            <p14:sldId id="256"/>
            <p14:sldId id="257"/>
            <p14:sldId id="258"/>
          </p14:sldIdLst>
        </p14:section>
        <p14:section name="Méthode et résultats" id="{ae929d03-c3a5-0619-4d65-519ebf522216}">
          <p14:sldIdLst>
            <p14:sldId id="259"/>
            <p14:sldId id="260"/>
            <p14:sldId id="261"/>
            <p14:sldId id="262"/>
            <p14:sldId id="263"/>
          </p14:sldIdLst>
        </p14:section>
        <p14:section name="Comparaison et discussion" id="{202487bc-73fa-62dc-0a5e-62f1e61fc209}">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mn-lt"/>
              </a:defRPr>
            </a:pPr>
            <a:r>
              <a:rPr sz="1200" b="0" i="0" u="none" strike="noStrike">
                <a:solidFill>
                  <a:srgbClr val="14213D"/>
                </a:solidFill>
                <a:latin typeface="+mn-lt"/>
              </a:rPr>
              <a:t>F1 par type d'entité (test, 3 453 phrases)</a:t>
            </a:r>
          </a:p>
        </c:rich>
      </c:tx>
      <c:layout/>
      <c:overlay val="0"/>
    </c:title>
    <c:autoTitleDeleted val="0"/>
    <c:plotArea>
      <c:layout/>
      <c:barChart>
        <c:barDir val="col"/>
        <c:grouping val="clustered"/>
        <c:varyColors val="0"/>
        <c:ser>
          <c:idx val="0"/>
          <c:order val="0"/>
          <c:tx>
            <c:strRef>
              <c:f>Sheet1!$B$1</c:f>
              <c:strCache>
                <c:ptCount val="1"/>
                <c:pt idx="0">
                  <c:v>Règles (EntityRuler)</c:v>
                </c:pt>
              </c:strCache>
            </c:strRef>
          </c:tx>
          <c:spPr>
            <a:solidFill>
              <a:srgbClr val="6C7A91"/>
            </a:solidFill>
            <a:effectLst/>
          </c:spPr>
          <c:invertIfNegative val="0"/>
          <c:dLbls>
            <c:numFmt formatCode="0.00" sourceLinked="0"/>
            <c:txPr>
              <a:bodyPr/>
              <a:lstStyle/>
              <a:p>
                <a:pPr>
                  <a:defRPr b="0" i="0" strike="noStrike" sz="800" u="none">
                    <a:solidFill>
                      <a:srgbClr val="333333"/>
                    </a:solidFill>
                    <a:latin typeface="+mn-lt"/>
                  </a:defRPr>
                </a:pPr>
              </a:p>
            </c:txPr>
            <c:showLegendKey val="0"/>
            <c:showVal val="1"/>
            <c:showCatName val="0"/>
            <c:showSerName val="0"/>
            <c:showPercent val="0"/>
            <c:showBubbleSize val="0"/>
            <c:showLeaderLines val="0"/>
          </c:dLbls>
          <c:cat>
            <c:multiLvlStrRef>
              <c:f>Sheet1!$A$2:$A$5</c:f>
              <c:multiLvlStrCache>
                <c:ptCount val="4"/>
                <c:lvl>
                  <c:pt idx="0">
                    <c:v>PER</c:v>
                  </c:pt>
                  <c:pt idx="1">
                    <c:v>ORG</c:v>
                  </c:pt>
                  <c:pt idx="2">
                    <c:v>LOC</c:v>
                  </c:pt>
                  <c:pt idx="3">
                    <c:v>MISC</c:v>
                  </c:pt>
                </c:lvl>
              </c:multiLvlStrCache>
            </c:multiLvlStrRef>
          </c:cat>
          <c:val>
            <c:numRef>
              <c:f>Sheet1!$B$2:$B$5</c:f>
              <c:numCache>
                <c:formatCode>General</c:formatCode>
                <c:ptCount val="4"/>
                <c:pt idx="0">
                  <c:v>0.257</c:v>
                </c:pt>
                <c:pt idx="1">
                  <c:v>0.65</c:v>
                </c:pt>
                <c:pt idx="2">
                  <c:v>0.763</c:v>
                </c:pt>
                <c:pt idx="3">
                  <c:v>0.705</c:v>
                </c:pt>
              </c:numCache>
            </c:numRef>
          </c:val>
        </c:ser>
        <c:ser>
          <c:idx val="1"/>
          <c:order val="1"/>
          <c:tx>
            <c:strRef>
              <c:f>Sheet1!$C$1</c:f>
              <c:strCache>
                <c:ptCount val="1"/>
                <c:pt idx="0">
                  <c:v>spaCy en_core_web_sm</c:v>
                </c:pt>
              </c:strCache>
            </c:strRef>
          </c:tx>
          <c:spPr>
            <a:solidFill>
              <a:srgbClr val="2A9D8F"/>
            </a:solidFill>
            <a:effectLst/>
          </c:spPr>
          <c:invertIfNegative val="0"/>
          <c:dLbls>
            <c:numFmt formatCode="0.00" sourceLinked="0"/>
            <c:txPr>
              <a:bodyPr/>
              <a:lstStyle/>
              <a:p>
                <a:pPr>
                  <a:defRPr b="0" i="0" strike="noStrike" sz="800" u="none">
                    <a:solidFill>
                      <a:srgbClr val="333333"/>
                    </a:solidFill>
                    <a:latin typeface="+mn-lt"/>
                  </a:defRPr>
                </a:pPr>
              </a:p>
            </c:txPr>
            <c:showLegendKey val="0"/>
            <c:showVal val="1"/>
            <c:showCatName val="0"/>
            <c:showSerName val="0"/>
            <c:showPercent val="0"/>
            <c:showBubbleSize val="0"/>
            <c:showLeaderLines val="0"/>
          </c:dLbls>
          <c:cat>
            <c:multiLvlStrRef>
              <c:f>Sheet1!$A$2:$A$5</c:f>
              <c:multiLvlStrCache>
                <c:ptCount val="4"/>
                <c:lvl>
                  <c:pt idx="0">
                    <c:v>PER</c:v>
                  </c:pt>
                  <c:pt idx="1">
                    <c:v>ORG</c:v>
                  </c:pt>
                  <c:pt idx="2">
                    <c:v>LOC</c:v>
                  </c:pt>
                  <c:pt idx="3">
                    <c:v>MISC</c:v>
                  </c:pt>
                </c:lvl>
              </c:multiLvlStrCache>
            </c:multiLvlStrRef>
          </c:cat>
          <c:val>
            <c:numRef>
              <c:f>Sheet1!$C$2:$C$5</c:f>
              <c:numCache>
                <c:formatCode>General</c:formatCode>
                <c:ptCount val="4"/>
                <c:pt idx="0">
                  <c:v>0.646</c:v>
                </c:pt>
                <c:pt idx="1">
                  <c:v>0.36</c:v>
                </c:pt>
                <c:pt idx="2">
                  <c:v>0.749</c:v>
                </c:pt>
                <c:pt idx="3">
                  <c:v>0.614</c:v>
                </c:pt>
              </c:numCache>
            </c:numRef>
          </c:val>
        </c:ser>
        <c:ser>
          <c:idx val="2"/>
          <c:order val="2"/>
          <c:tx>
            <c:strRef>
              <c:f>Sheet1!$D$1</c:f>
              <c:strCache>
                <c:ptCount val="1"/>
                <c:pt idx="0">
                  <c:v>CRF (sklearn-crfsuite)</c:v>
                </c:pt>
              </c:strCache>
            </c:strRef>
          </c:tx>
          <c:spPr>
            <a:solidFill>
              <a:srgbClr val="14213D"/>
            </a:solidFill>
            <a:effectLst/>
          </c:spPr>
          <c:invertIfNegative val="0"/>
          <c:dLbls>
            <c:numFmt formatCode="0.00" sourceLinked="0"/>
            <c:txPr>
              <a:bodyPr/>
              <a:lstStyle/>
              <a:p>
                <a:pPr>
                  <a:defRPr b="0" i="0" strike="noStrike" sz="800" u="none">
                    <a:solidFill>
                      <a:srgbClr val="333333"/>
                    </a:solidFill>
                    <a:latin typeface="+mn-lt"/>
                  </a:defRPr>
                </a:pPr>
              </a:p>
            </c:txPr>
            <c:showLegendKey val="0"/>
            <c:showVal val="1"/>
            <c:showCatName val="0"/>
            <c:showSerName val="0"/>
            <c:showPercent val="0"/>
            <c:showBubbleSize val="0"/>
            <c:showLeaderLines val="0"/>
          </c:dLbls>
          <c:cat>
            <c:multiLvlStrRef>
              <c:f>Sheet1!$A$2:$A$5</c:f>
              <c:multiLvlStrCache>
                <c:ptCount val="4"/>
                <c:lvl>
                  <c:pt idx="0">
                    <c:v>PER</c:v>
                  </c:pt>
                  <c:pt idx="1">
                    <c:v>ORG</c:v>
                  </c:pt>
                  <c:pt idx="2">
                    <c:v>LOC</c:v>
                  </c:pt>
                  <c:pt idx="3">
                    <c:v>MISC</c:v>
                  </c:pt>
                </c:lvl>
              </c:multiLvlStrCache>
            </c:multiLvlStrRef>
          </c:cat>
          <c:val>
            <c:numRef>
              <c:f>Sheet1!$D$2:$D$5</c:f>
              <c:numCache>
                <c:formatCode>General</c:formatCode>
                <c:ptCount val="4"/>
                <c:pt idx="0">
                  <c:v>0.865</c:v>
                </c:pt>
                <c:pt idx="1">
                  <c:v>0.739</c:v>
                </c:pt>
                <c:pt idx="2">
                  <c:v>0.854</c:v>
                </c:pt>
                <c:pt idx="3">
                  <c:v>0.773</c:v>
                </c:pt>
              </c:numCache>
            </c:numRef>
          </c:val>
        </c:ser>
        <c:dLbls>
          <c:numFmt formatCode="0.00" sourceLinked="0"/>
          <c:txPr>
            <a:bodyPr/>
            <a:lstStyle/>
            <a:p>
              <a:pPr>
                <a:defRPr b="0" i="0" strike="noStrike" sz="800" u="none">
                  <a:solidFill>
                    <a:srgbClr val="333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mn-lt"/>
              </a:defRPr>
            </a:pPr>
            <a:r>
              <a:rPr sz="1200" b="0" i="0" u="none" strike="noStrike">
                <a:solidFill>
                  <a:srgbClr val="14213D"/>
                </a:solidFill>
                <a:latin typeface="+mn-lt"/>
              </a:rPr>
              <a:t>Approche classique vs Wikidata</a:t>
            </a:r>
          </a:p>
        </c:rich>
      </c:tx>
      <c:layout/>
      <c:overlay val="0"/>
    </c:title>
    <c:autoTitleDeleted val="0"/>
    <c:plotArea>
      <c:layout/>
      <c:barChart>
        <c:barDir val="col"/>
        <c:grouping val="clustered"/>
        <c:varyColors val="0"/>
        <c:ser>
          <c:idx val="0"/>
          <c:order val="0"/>
          <c:tx>
            <c:strRef>
              <c:f>Sheet1!$B$1</c:f>
              <c:strCache>
                <c:ptCount val="1"/>
                <c:pt idx="0">
                  <c:v>Précision</c:v>
                </c:pt>
              </c:strCache>
            </c:strRef>
          </c:tx>
          <c:spPr>
            <a:solidFill>
              <a:srgbClr val="14213D"/>
            </a:solidFill>
            <a:effectLst/>
          </c:spPr>
          <c:invertIfNegative val="0"/>
          <c:dLbls>
            <c:numFmt formatCode="0.00" sourceLinked="0"/>
            <c:txPr>
              <a:bodyPr/>
              <a:lstStyle/>
              <a:p>
                <a:pPr>
                  <a:defRPr b="0" i="0" strike="noStrike" sz="800" u="none">
                    <a:solidFill>
                      <a:srgbClr val="333333"/>
                    </a:solidFill>
                    <a:latin typeface="+mn-lt"/>
                  </a:defRPr>
                </a:pPr>
              </a:p>
            </c:txPr>
            <c:showLegendKey val="0"/>
            <c:showVal val="1"/>
            <c:showCatName val="0"/>
            <c:showSerName val="0"/>
            <c:showPercent val="0"/>
            <c:showBubbleSize val="0"/>
            <c:showLeaderLines val="0"/>
          </c:dLbls>
          <c:cat>
            <c:multiLvlStrRef>
              <c:f>Sheet1!$A$2:$A$7</c:f>
              <c:multiLvlStrCache>
                <c:ptCount val="6"/>
                <c:lvl>
                  <c:pt idx="0">
                    <c:v>born_in</c:v>
                  </c:pt>
                  <c:pt idx="1">
                    <c:v>born_on</c:v>
                  </c:pt>
                  <c:pt idx="2">
                    <c:v>died_in</c:v>
                  </c:pt>
                  <c:pt idx="3">
                    <c:v>educated_at</c:v>
                  </c:pt>
                  <c:pt idx="4">
                    <c:v>worked_at</c:v>
                  </c:pt>
                  <c:pt idx="5">
                    <c:v>award_received</c:v>
                  </c:pt>
                </c:lvl>
              </c:multiLvlStrCache>
            </c:multiLvlStrRef>
          </c:cat>
          <c:val>
            <c:numRef>
              <c:f>Sheet1!$B$2:$B$7</c:f>
              <c:numCache>
                <c:formatCode>General</c:formatCode>
                <c:ptCount val="6"/>
                <c:pt idx="0">
                  <c:v>0.545</c:v>
                </c:pt>
                <c:pt idx="1">
                  <c:v>1</c:v>
                </c:pt>
                <c:pt idx="2">
                  <c:v>0.5</c:v>
                </c:pt>
                <c:pt idx="3">
                  <c:v>0.611</c:v>
                </c:pt>
                <c:pt idx="4">
                  <c:v>0.461</c:v>
                </c:pt>
                <c:pt idx="5">
                  <c:v>0.943</c:v>
                </c:pt>
              </c:numCache>
            </c:numRef>
          </c:val>
        </c:ser>
        <c:ser>
          <c:idx val="1"/>
          <c:order val="1"/>
          <c:tx>
            <c:strRef>
              <c:f>Sheet1!$C$1</c:f>
              <c:strCache>
                <c:ptCount val="1"/>
                <c:pt idx="0">
                  <c:v>Rappel</c:v>
                </c:pt>
              </c:strCache>
            </c:strRef>
          </c:tx>
          <c:spPr>
            <a:solidFill>
              <a:srgbClr val="C9A227"/>
            </a:solidFill>
            <a:effectLst/>
          </c:spPr>
          <c:invertIfNegative val="0"/>
          <c:dLbls>
            <c:numFmt formatCode="0.00" sourceLinked="0"/>
            <c:txPr>
              <a:bodyPr/>
              <a:lstStyle/>
              <a:p>
                <a:pPr>
                  <a:defRPr b="0" i="0" strike="noStrike" sz="800" u="none">
                    <a:solidFill>
                      <a:srgbClr val="333333"/>
                    </a:solidFill>
                    <a:latin typeface="+mn-lt"/>
                  </a:defRPr>
                </a:pPr>
              </a:p>
            </c:txPr>
            <c:showLegendKey val="0"/>
            <c:showVal val="1"/>
            <c:showCatName val="0"/>
            <c:showSerName val="0"/>
            <c:showPercent val="0"/>
            <c:showBubbleSize val="0"/>
            <c:showLeaderLines val="0"/>
          </c:dLbls>
          <c:cat>
            <c:multiLvlStrRef>
              <c:f>Sheet1!$A$2:$A$7</c:f>
              <c:multiLvlStrCache>
                <c:ptCount val="6"/>
                <c:lvl>
                  <c:pt idx="0">
                    <c:v>born_in</c:v>
                  </c:pt>
                  <c:pt idx="1">
                    <c:v>born_on</c:v>
                  </c:pt>
                  <c:pt idx="2">
                    <c:v>died_in</c:v>
                  </c:pt>
                  <c:pt idx="3">
                    <c:v>educated_at</c:v>
                  </c:pt>
                  <c:pt idx="4">
                    <c:v>worked_at</c:v>
                  </c:pt>
                  <c:pt idx="5">
                    <c:v>award_received</c:v>
                  </c:pt>
                </c:lvl>
              </c:multiLvlStrCache>
            </c:multiLvlStrRef>
          </c:cat>
          <c:val>
            <c:numRef>
              <c:f>Sheet1!$C$2:$C$7</c:f>
              <c:numCache>
                <c:formatCode>General</c:formatCode>
                <c:ptCount val="6"/>
                <c:pt idx="0">
                  <c:v>0.5</c:v>
                </c:pt>
                <c:pt idx="1">
                  <c:v>0.967</c:v>
                </c:pt>
                <c:pt idx="2">
                  <c:v>0.045</c:v>
                </c:pt>
                <c:pt idx="3">
                  <c:v>0.197</c:v>
                </c:pt>
                <c:pt idx="4">
                  <c:v>0.705</c:v>
                </c:pt>
                <c:pt idx="5">
                  <c:v>0.931</c:v>
                </c:pt>
              </c:numCache>
            </c:numRef>
          </c:val>
        </c:ser>
        <c:dLbls>
          <c:numFmt formatCode="0.00" sourceLinked="0"/>
          <c:txPr>
            <a:bodyPr/>
            <a:lstStyle/>
            <a:p>
              <a:pPr>
                <a:defRPr b="0" i="0" strike="noStrike" sz="800" u="none">
                  <a:solidFill>
                    <a:srgbClr val="3333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mn-lt"/>
              </a:defRPr>
            </a:pPr>
            <a:r>
              <a:rPr sz="1200" b="0" i="0" u="none" strike="noStrike">
                <a:solidFill>
                  <a:srgbClr val="14213D"/>
                </a:solidFill>
                <a:latin typeface="+mn-lt"/>
              </a:rPr>
              <a:t>F1 par relation</a:t>
            </a:r>
          </a:p>
        </c:rich>
      </c:tx>
      <c:layout/>
      <c:overlay val="0"/>
    </c:title>
    <c:autoTitleDeleted val="0"/>
    <c:plotArea>
      <c:layout/>
      <c:barChart>
        <c:barDir val="bar"/>
        <c:grouping val="clustered"/>
        <c:varyColors val="0"/>
        <c:ser>
          <c:idx val="0"/>
          <c:order val="0"/>
          <c:tx>
            <c:strRef>
              <c:f>Sheet1!$B$1</c:f>
              <c:strCache>
                <c:ptCount val="1"/>
                <c:pt idx="0">
                  <c:v>Classique</c:v>
                </c:pt>
              </c:strCache>
            </c:strRef>
          </c:tx>
          <c:spPr>
            <a:solidFill>
              <a:srgbClr val="14213D"/>
            </a:solidFill>
            <a:effectLst/>
          </c:spPr>
          <c:invertIfNegative val="0"/>
          <c:dLbls>
            <c:numFmt formatCode="0.00" sourceLinked="0"/>
            <c:txPr>
              <a:bodyPr/>
              <a:lstStyle/>
              <a:p>
                <a:pPr>
                  <a:defRPr b="0" i="0" strike="noStrike" sz="700" u="none">
                    <a:solidFill>
                      <a:srgbClr val="333333"/>
                    </a:solidFill>
                    <a:latin typeface="+mn-lt"/>
                  </a:defRPr>
                </a:pPr>
              </a:p>
            </c:txPr>
            <c:showLegendKey val="0"/>
            <c:showVal val="1"/>
            <c:showCatName val="0"/>
            <c:showSerName val="0"/>
            <c:showPercent val="0"/>
            <c:showBubbleSize val="0"/>
            <c:showLeaderLines val="0"/>
          </c:dLbls>
          <c:cat>
            <c:multiLvlStrRef>
              <c:f>Sheet1!$A$2:$A$7</c:f>
              <c:multiLvlStrCache>
                <c:ptCount val="6"/>
                <c:lvl>
                  <c:pt idx="0">
                    <c:v>born_in</c:v>
                  </c:pt>
                  <c:pt idx="1">
                    <c:v>born_on</c:v>
                  </c:pt>
                  <c:pt idx="2">
                    <c:v>died_in</c:v>
                  </c:pt>
                  <c:pt idx="3">
                    <c:v>educated_at</c:v>
                  </c:pt>
                  <c:pt idx="4">
                    <c:v>worked_at</c:v>
                  </c:pt>
                  <c:pt idx="5">
                    <c:v>award_received</c:v>
                  </c:pt>
                </c:lvl>
              </c:multiLvlStrCache>
            </c:multiLvlStrRef>
          </c:cat>
          <c:val>
            <c:numRef>
              <c:f>Sheet1!$B$2:$B$7</c:f>
              <c:numCache>
                <c:formatCode>General</c:formatCode>
                <c:ptCount val="6"/>
                <c:pt idx="0">
                  <c:v>0.522</c:v>
                </c:pt>
                <c:pt idx="1">
                  <c:v>0.983</c:v>
                </c:pt>
                <c:pt idx="2">
                  <c:v>0.083</c:v>
                </c:pt>
                <c:pt idx="3">
                  <c:v>0.298</c:v>
                </c:pt>
                <c:pt idx="4">
                  <c:v>0.557</c:v>
                </c:pt>
                <c:pt idx="5">
                  <c:v>0.937</c:v>
                </c:pt>
              </c:numCache>
            </c:numRef>
          </c:val>
        </c:ser>
        <c:ser>
          <c:idx val="1"/>
          <c:order val="1"/>
          <c:tx>
            <c:strRef>
              <c:f>Sheet1!$C$1</c:f>
              <c:strCache>
                <c:ptCount val="1"/>
                <c:pt idx="0">
                  <c:v>LLM</c:v>
                </c:pt>
              </c:strCache>
            </c:strRef>
          </c:tx>
          <c:spPr>
            <a:solidFill>
              <a:srgbClr val="C44E52"/>
            </a:solidFill>
            <a:effectLst/>
          </c:spPr>
          <c:invertIfNegative val="0"/>
          <c:dLbls>
            <c:numFmt formatCode="0.00" sourceLinked="0"/>
            <c:txPr>
              <a:bodyPr/>
              <a:lstStyle/>
              <a:p>
                <a:pPr>
                  <a:defRPr b="0" i="0" strike="noStrike" sz="700" u="none">
                    <a:solidFill>
                      <a:srgbClr val="333333"/>
                    </a:solidFill>
                    <a:latin typeface="+mn-lt"/>
                  </a:defRPr>
                </a:pPr>
              </a:p>
            </c:txPr>
            <c:showLegendKey val="0"/>
            <c:showVal val="1"/>
            <c:showCatName val="0"/>
            <c:showSerName val="0"/>
            <c:showPercent val="0"/>
            <c:showBubbleSize val="0"/>
            <c:showLeaderLines val="0"/>
          </c:dLbls>
          <c:cat>
            <c:multiLvlStrRef>
              <c:f>Sheet1!$A$2:$A$7</c:f>
              <c:multiLvlStrCache>
                <c:ptCount val="6"/>
                <c:lvl>
                  <c:pt idx="0">
                    <c:v>born_in</c:v>
                  </c:pt>
                  <c:pt idx="1">
                    <c:v>born_on</c:v>
                  </c:pt>
                  <c:pt idx="2">
                    <c:v>died_in</c:v>
                  </c:pt>
                  <c:pt idx="3">
                    <c:v>educated_at</c:v>
                  </c:pt>
                  <c:pt idx="4">
                    <c:v>worked_at</c:v>
                  </c:pt>
                  <c:pt idx="5">
                    <c:v>award_received</c:v>
                  </c:pt>
                </c:lvl>
              </c:multiLvlStrCache>
            </c:multiLvlStrRef>
          </c:cat>
          <c:val>
            <c:numRef>
              <c:f>Sheet1!$C$2:$C$7</c:f>
              <c:numCache>
                <c:formatCode>General</c:formatCode>
                <c:ptCount val="6"/>
                <c:pt idx="0">
                  <c:v>0.14</c:v>
                </c:pt>
                <c:pt idx="1">
                  <c:v>0.66</c:v>
                </c:pt>
                <c:pt idx="2">
                  <c:v>0.133</c:v>
                </c:pt>
                <c:pt idx="3">
                  <c:v>0.501</c:v>
                </c:pt>
                <c:pt idx="4">
                  <c:v>0.417</c:v>
                </c:pt>
                <c:pt idx="5">
                  <c:v>0.831</c:v>
                </c:pt>
              </c:numCache>
            </c:numRef>
          </c:val>
        </c:ser>
        <c:dLbls>
          <c:numFmt formatCode="0.00" sourceLinked="0"/>
          <c:txPr>
            <a:bodyPr/>
            <a:lstStyle/>
            <a:p>
              <a:pPr>
                <a:defRPr b="0" i="0" strike="noStrike" sz="700" u="none">
                  <a:solidFill>
                    <a:srgbClr val="3333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E2E8F0"/>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9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sujet : extraire entités, relations et faits de textes Wikipedia, construire un graphe de connaissances, et comparer une chaîne classique (règles + ML) avec un LLM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Justifier le choix du corpus : 100-300 textes demandés, petit volume, et surtout une référence externe (Wikidata) qui permet d'évaluer les relations sans annotation manuelle. CoNLL-2003 sert à entraîner et évaluer la 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Décrire le pipeline : chaque étape produit l'entrée de la suivante. Le code est dans src/, le notebook appelle les modules et commente les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les deux niveaux de prétraitement : enlever la ponctuation et les majuscules détruirait les indices dont la NER a besoin. Les embeddings donnent des voisins cohérents (Einstein proche de Planck, Heisenberg).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CRF est entraîné sur le même domaine et le même schéma, d'où son avance. Les règles ont la meilleure précision relative mais un rappel faible. spaCy n'est pas entraîné sur CoNLL. L'accord CRF/spaCy sur Wikipedia montre le problème du changement de domaine.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la règle unique : remonter les ancêtres de l'entité dans l'arbre et s'arrêter au premier mot déclencheur. Le sujet est le nsubj du verbe ; he/she/who sont rattachés à la personne de l'article. C'est simple, explicable, et chaque triplet est traçable.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précision est une borne inférieure : beaucoup de « faux positifs » sont des faits vrais absents de Wikidata (Bardeen chez Bell Labs). Les lieux de naissance et de décès sont rares dans les introductions, d'où peu de triplets.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en démo le fichier outputs/kg/kg_classic_interactive.html : survoler un arc affiche la phrase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Commenter le tableau critère par critère : qualité, hallucinations (ancrage), temps, explicabilité. Le LLM n'a besoin d'aucune règle mais il est bien plus lent sur CPU et invente parfois des faits.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que le KG répond avec une source vérifiable. Puis lister les difficultés rencontrées concrètement dans le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 les deux approches sont complémentaires. Une solution réaliste utilise le LLM pour proposer des triplets et des vérifications automatiques (ancrage, types, Wikidata) pour les filtrer.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EDA"/>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2800" b="1" dirty="0">
                <a:solidFill>
                  <a:schemeClr val="tx2"/>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6C7A91"/>
                </a:solidFill>
              </a:rPr>
              <a:t>Knowledge Extraction — M2 Informatique</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91"/>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ED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édaille"/>
          <p:cNvSpPr/>
          <p:nvPr/>
        </p:nvSpPr>
        <p:spPr>
          <a:xfrm>
            <a:off x="6766560" y="548640"/>
            <a:ext cx="1737360" cy="1737360"/>
          </a:xfrm>
          <a:prstGeom prst="ellipse">
            <a:avLst/>
          </a:prstGeom>
          <a:solidFill>
            <a:schemeClr val="accent2"/>
          </a:solidFill>
          <a:ln w="12700">
            <a:solidFill>
              <a:schemeClr val="accent2"/>
            </a:solidFill>
            <a:prstDash val="solid"/>
          </a:ln>
        </p:spPr>
      </p:sp>
      <p:sp>
        <p:nvSpPr>
          <p:cNvPr id="3" name="Text 1"/>
          <p:cNvSpPr txBox="1"/>
          <p:nvPr/>
        </p:nvSpPr>
        <p:spPr>
          <a:xfrm>
            <a:off x="6766560" y="548640"/>
            <a:ext cx="1737360" cy="1737360"/>
          </a:xfrm>
          <a:prstGeom prst="rect">
            <a:avLst/>
          </a:prstGeom>
          <a:noFill/>
          <a:ln/>
        </p:spPr>
        <p:txBody>
          <a:bodyPr wrap="square" lIns="0" tIns="0" rIns="0" bIns="0" rtlCol="0" anchor="ctr"/>
          <a:lstStyle/>
          <a:p>
            <a:pPr algn="ctr" indent="0" marL="0">
              <a:buNone/>
            </a:pPr>
            <a:r>
              <a:rPr lang="en-US" sz="4000" b="1" dirty="0">
                <a:solidFill>
                  <a:schemeClr val="tx2"/>
                </a:solidFill>
                <a:latin typeface="Cambria" pitchFamily="34" charset="0"/>
                <a:ea typeface="Cambria" pitchFamily="34" charset="-122"/>
                <a:cs typeface="Cambria" pitchFamily="34" charset="-120"/>
              </a:rPr>
              <a:t>KG</a:t>
            </a:r>
            <a:endParaRPr lang="en-US" sz="4000" dirty="0"/>
          </a:p>
        </p:txBody>
      </p:sp>
      <p:sp>
        <p:nvSpPr>
          <p:cNvPr id="4" name="Text 2"/>
          <p:cNvSpPr txBox="1"/>
          <p:nvPr/>
        </p:nvSpPr>
        <p:spPr>
          <a:xfrm>
            <a:off x="548640" y="1371600"/>
            <a:ext cx="6035040" cy="118872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Knowledge Extraction from Unstructured Text</a:t>
            </a:r>
            <a:endParaRPr lang="en-US" sz="3400" dirty="0"/>
          </a:p>
        </p:txBody>
      </p:sp>
      <p:sp>
        <p:nvSpPr>
          <p:cNvPr id="5" name="Text 3"/>
          <p:cNvSpPr txBox="1"/>
          <p:nvPr/>
        </p:nvSpPr>
        <p:spPr>
          <a:xfrm>
            <a:off x="548640" y="2651760"/>
            <a:ext cx="6035040" cy="822960"/>
          </a:xfrm>
          <a:prstGeom prst="rect">
            <a:avLst/>
          </a:prstGeom>
          <a:noFill/>
          <a:ln/>
        </p:spPr>
        <p:txBody>
          <a:bodyPr wrap="square" lIns="0" tIns="0" rIns="0" bIns="0" rtlCol="0" anchor="t"/>
          <a:lstStyle/>
          <a:p>
            <a:pPr indent="0" marL="0">
              <a:buNone/>
            </a:pPr>
            <a:r>
              <a:rPr lang="en-US" sz="1600" dirty="0">
                <a:solidFill>
                  <a:srgbClr val="C9CEDA"/>
                </a:solidFill>
              </a:rPr>
              <a:t>Du texte brut au Knowledge Graph des lauréats du prix Nobel de physique — approche classique vs LLM</a:t>
            </a:r>
            <a:endParaRPr lang="en-US" sz="1600" dirty="0"/>
          </a:p>
        </p:txBody>
      </p:sp>
      <p:sp>
        <p:nvSpPr>
          <p:cNvPr id="6" name="Text 4"/>
          <p:cNvSpPr txBox="1"/>
          <p:nvPr/>
        </p:nvSpPr>
        <p:spPr>
          <a:xfrm>
            <a:off x="548640" y="4114800"/>
            <a:ext cx="6400800" cy="365760"/>
          </a:xfrm>
          <a:prstGeom prst="rect">
            <a:avLst/>
          </a:prstGeom>
          <a:noFill/>
          <a:ln/>
        </p:spPr>
        <p:txBody>
          <a:bodyPr wrap="square" lIns="0" tIns="0" rIns="0" bIns="0" rtlCol="0" anchor="t"/>
          <a:lstStyle/>
          <a:p>
            <a:pPr indent="0" marL="0">
              <a:buNone/>
            </a:pPr>
            <a:r>
              <a:rPr lang="en-US" sz="1200" dirty="0">
                <a:solidFill>
                  <a:schemeClr val="accent2"/>
                </a:solidFill>
              </a:rPr>
              <a:t>Master 2 Informatique — Projet Knowledge Extraction — 2026</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EDA"/>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Un corpus court, riche en faits vérifiables</a:t>
            </a:r>
            <a:endParaRPr lang="en-US" sz="2800" dirty="0"/>
          </a:p>
        </p:txBody>
      </p:sp>
      <p:sp>
        <p:nvSpPr>
          <p:cNvPr id="3" name="carte corpus"/>
          <p:cNvSpPr/>
          <p:nvPr/>
        </p:nvSpPr>
        <p:spPr>
          <a:xfrm>
            <a:off x="457200" y="1143000"/>
            <a:ext cx="2606040" cy="1417320"/>
          </a:xfrm>
          <a:prstGeom prst="roundRect">
            <a:avLst>
              <a:gd name="adj" fmla="val 5161"/>
            </a:avLst>
          </a:prstGeom>
          <a:solidFill>
            <a:schemeClr val="bg2"/>
          </a:solidFill>
          <a:ln w="12700">
            <a:solidFill>
              <a:schemeClr val="bg2"/>
            </a:solidFill>
            <a:prstDash val="solid"/>
          </a:ln>
        </p:spPr>
      </p:sp>
      <p:sp>
        <p:nvSpPr>
          <p:cNvPr id="4" name="carte conll"/>
          <p:cNvSpPr/>
          <p:nvPr/>
        </p:nvSpPr>
        <p:spPr>
          <a:xfrm>
            <a:off x="3268980" y="1143000"/>
            <a:ext cx="2606040" cy="1417320"/>
          </a:xfrm>
          <a:prstGeom prst="roundRect">
            <a:avLst>
              <a:gd name="adj" fmla="val 5161"/>
            </a:avLst>
          </a:prstGeom>
          <a:solidFill>
            <a:schemeClr val="bg2"/>
          </a:solidFill>
          <a:ln w="12700">
            <a:solidFill>
              <a:schemeClr val="bg2"/>
            </a:solidFill>
            <a:prstDash val="solid"/>
          </a:ln>
        </p:spPr>
      </p:sp>
      <p:sp>
        <p:nvSpPr>
          <p:cNvPr id="5" name="carte wikidata"/>
          <p:cNvSpPr/>
          <p:nvPr/>
        </p:nvSpPr>
        <p:spPr>
          <a:xfrm>
            <a:off x="6080760" y="1143000"/>
            <a:ext cx="2606040" cy="1417320"/>
          </a:xfrm>
          <a:prstGeom prst="roundRect">
            <a:avLst>
              <a:gd name="adj" fmla="val 5161"/>
            </a:avLst>
          </a:prstGeom>
          <a:solidFill>
            <a:schemeClr val="bg2"/>
          </a:solidFill>
          <a:ln w="12700">
            <a:solidFill>
              <a:schemeClr val="bg2"/>
            </a:solidFill>
            <a:prstDash val="solid"/>
          </a:ln>
        </p:spPr>
      </p:sp>
      <p:sp>
        <p:nvSpPr>
          <p:cNvPr id="6" name="stat introductions Wikipedia (21,5 k mots)"/>
          <p:cNvSpPr txBox="1"/>
          <p:nvPr/>
        </p:nvSpPr>
        <p:spPr>
          <a:xfrm>
            <a:off x="640080" y="1234440"/>
            <a:ext cx="228600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150</a:t>
            </a:r>
            <a:endParaRPr lang="en-US" sz="3600" dirty="0"/>
          </a:p>
        </p:txBody>
      </p:sp>
      <p:sp>
        <p:nvSpPr>
          <p:cNvPr id="7" name="Text 5"/>
          <p:cNvSpPr txBox="1"/>
          <p:nvPr/>
        </p:nvSpPr>
        <p:spPr>
          <a:xfrm>
            <a:off x="640080" y="1920240"/>
            <a:ext cx="2286000" cy="502920"/>
          </a:xfrm>
          <a:prstGeom prst="rect">
            <a:avLst/>
          </a:prstGeom>
          <a:noFill/>
          <a:ln/>
        </p:spPr>
        <p:txBody>
          <a:bodyPr wrap="square" lIns="0" tIns="0" rIns="0" bIns="0" rtlCol="0" anchor="t"/>
          <a:lstStyle/>
          <a:p>
            <a:pPr indent="0" marL="0">
              <a:buNone/>
            </a:pPr>
            <a:r>
              <a:rPr lang="en-US" sz="1200" dirty="0">
                <a:solidFill>
                  <a:srgbClr val="4A5568"/>
                </a:solidFill>
              </a:rPr>
              <a:t>introductions Wikipedia (21,5 k mots)</a:t>
            </a:r>
            <a:endParaRPr lang="en-US" sz="1200" dirty="0"/>
          </a:p>
        </p:txBody>
      </p:sp>
      <p:sp>
        <p:nvSpPr>
          <p:cNvPr id="8" name="stat phrases CoNLL-2003 annotées (train + test) pour la NER"/>
          <p:cNvSpPr txBox="1"/>
          <p:nvPr/>
        </p:nvSpPr>
        <p:spPr>
          <a:xfrm>
            <a:off x="3451860" y="1234440"/>
            <a:ext cx="2286000" cy="68580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17 494</a:t>
            </a:r>
            <a:endParaRPr lang="en-US" sz="3600" dirty="0"/>
          </a:p>
        </p:txBody>
      </p:sp>
      <p:sp>
        <p:nvSpPr>
          <p:cNvPr id="9" name="Text 7"/>
          <p:cNvSpPr txBox="1"/>
          <p:nvPr/>
        </p:nvSpPr>
        <p:spPr>
          <a:xfrm>
            <a:off x="3451860" y="1920240"/>
            <a:ext cx="2286000" cy="502920"/>
          </a:xfrm>
          <a:prstGeom prst="rect">
            <a:avLst/>
          </a:prstGeom>
          <a:noFill/>
          <a:ln/>
        </p:spPr>
        <p:txBody>
          <a:bodyPr wrap="square" lIns="0" tIns="0" rIns="0" bIns="0" rtlCol="0" anchor="t"/>
          <a:lstStyle/>
          <a:p>
            <a:pPr indent="0" marL="0">
              <a:buNone/>
            </a:pPr>
            <a:r>
              <a:rPr lang="en-US" sz="1200" dirty="0">
                <a:solidFill>
                  <a:srgbClr val="4A5568"/>
                </a:solidFill>
              </a:rPr>
              <a:t>phrases CoNLL-2003 annotées (train + test) pour la NER</a:t>
            </a:r>
            <a:endParaRPr lang="en-US" sz="1200" dirty="0"/>
          </a:p>
        </p:txBody>
      </p:sp>
      <p:sp>
        <p:nvSpPr>
          <p:cNvPr id="10" name="stat faits Wikidata servant de référence pour les relations"/>
          <p:cNvSpPr txBox="1"/>
          <p:nvPr/>
        </p:nvSpPr>
        <p:spPr>
          <a:xfrm>
            <a:off x="6263640" y="1234440"/>
            <a:ext cx="2286000" cy="68580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3 146</a:t>
            </a:r>
            <a:endParaRPr lang="en-US" sz="3600" dirty="0"/>
          </a:p>
        </p:txBody>
      </p:sp>
      <p:sp>
        <p:nvSpPr>
          <p:cNvPr id="11" name="Text 9"/>
          <p:cNvSpPr txBox="1"/>
          <p:nvPr/>
        </p:nvSpPr>
        <p:spPr>
          <a:xfrm>
            <a:off x="6263640" y="1920240"/>
            <a:ext cx="2286000" cy="502920"/>
          </a:xfrm>
          <a:prstGeom prst="rect">
            <a:avLst/>
          </a:prstGeom>
          <a:noFill/>
          <a:ln/>
        </p:spPr>
        <p:txBody>
          <a:bodyPr wrap="square" lIns="0" tIns="0" rIns="0" bIns="0" rtlCol="0" anchor="t"/>
          <a:lstStyle/>
          <a:p>
            <a:pPr indent="0" marL="0">
              <a:buNone/>
            </a:pPr>
            <a:r>
              <a:rPr lang="en-US" sz="1200" dirty="0">
                <a:solidFill>
                  <a:srgbClr val="4A5568"/>
                </a:solidFill>
              </a:rPr>
              <a:t>faits Wikidata servant de référence pour les relations</a:t>
            </a:r>
            <a:endParaRPr lang="en-US" sz="1200" dirty="0"/>
          </a:p>
        </p:txBody>
      </p:sp>
      <p:sp>
        <p:nvSpPr>
          <p:cNvPr id="12" name="Text 10"/>
          <p:cNvSpPr txBox="1"/>
          <p:nvPr/>
        </p:nvSpPr>
        <p:spPr>
          <a:xfrm>
            <a:off x="457200" y="2834640"/>
            <a:ext cx="822960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Lauréats du Nobel de physique : biographies au style homogène, faits clairs (naissance, études, employeurs, prix)</a:t>
            </a:r>
            <a:endParaRPr lang="en-US" sz="1400" dirty="0"/>
          </a:p>
          <a:p>
            <a:pPr marL="342900" indent="-342900">
              <a:spcAft>
                <a:spcPts val="600"/>
              </a:spcAft>
              <a:buSzPct val="100000"/>
              <a:buChar char="•"/>
            </a:pPr>
            <a:r>
              <a:rPr lang="en-US" sz="1400" dirty="0">
                <a:solidFill>
                  <a:schemeClr val="tx1"/>
                </a:solidFill>
              </a:rPr>
              <a:t>Les faits sont vérifiables automatiquement avec Wikidata : pas besoin d'annoter les relations à la main</a:t>
            </a:r>
            <a:endParaRPr lang="en-US" sz="1400" dirty="0"/>
          </a:p>
          <a:p>
            <a:pPr marL="342900" indent="-342900">
              <a:spcAft>
                <a:spcPts val="600"/>
              </a:spcAft>
              <a:buSzPct val="100000"/>
              <a:buChar char="•"/>
            </a:pPr>
            <a:r>
              <a:rPr lang="en-US" sz="1400" dirty="0">
                <a:solidFill>
                  <a:schemeClr val="tx1"/>
                </a:solidFill>
              </a:rPr>
              <a:t>Tout tourne sur CPU : spaCy small, CRF, MiniLM (90 Mo), Qwen2.5-1.5B (3 Go)</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9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Une chaîne de traitement en quatre étapes</a:t>
            </a:r>
            <a:endParaRPr lang="en-US" sz="2800" dirty="0"/>
          </a:p>
        </p:txBody>
      </p:sp>
      <p:sp>
        <p:nvSpPr>
          <p:cNvPr id="3" name="étape A"/>
          <p:cNvSpPr/>
          <p:nvPr/>
        </p:nvSpPr>
        <p:spPr>
          <a:xfrm>
            <a:off x="457200" y="1280160"/>
            <a:ext cx="1874520" cy="2834640"/>
          </a:xfrm>
          <a:prstGeom prst="roundRect">
            <a:avLst>
              <a:gd name="adj" fmla="val 3902"/>
            </a:avLst>
          </a:prstGeom>
          <a:solidFill>
            <a:schemeClr val="bg2"/>
          </a:solidFill>
          <a:ln w="12700">
            <a:solidFill>
              <a:schemeClr val="bg2"/>
            </a:solidFill>
            <a:prstDash val="solid"/>
          </a:ln>
        </p:spPr>
      </p:sp>
      <p:sp>
        <p:nvSpPr>
          <p:cNvPr id="4" name="badge A"/>
          <p:cNvSpPr/>
          <p:nvPr/>
        </p:nvSpPr>
        <p:spPr>
          <a:xfrm>
            <a:off x="640080" y="1463040"/>
            <a:ext cx="457200" cy="457200"/>
          </a:xfrm>
          <a:prstGeom prst="ellipse">
            <a:avLst/>
          </a:prstGeom>
          <a:solidFill>
            <a:srgbClr val="6C7A91"/>
          </a:solidFill>
          <a:ln w="12700">
            <a:solidFill>
              <a:srgbClr val="6C7A91"/>
            </a:solidFill>
            <a:prstDash val="solid"/>
          </a:ln>
        </p:spPr>
      </p:sp>
      <p:sp>
        <p:nvSpPr>
          <p:cNvPr id="5" name="Text 3"/>
          <p:cNvSpPr txBox="1"/>
          <p:nvPr/>
        </p:nvSpPr>
        <p:spPr>
          <a:xfrm>
            <a:off x="64008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6" name="Text 4"/>
          <p:cNvSpPr txBox="1"/>
          <p:nvPr/>
        </p:nvSpPr>
        <p:spPr>
          <a:xfrm>
            <a:off x="640080" y="2057400"/>
            <a:ext cx="1554480" cy="411480"/>
          </a:xfrm>
          <a:prstGeom prst="rect">
            <a:avLst/>
          </a:prstGeom>
          <a:noFill/>
          <a:ln/>
        </p:spPr>
        <p:txBody>
          <a:bodyPr wrap="square" lIns="0" tIns="0" rIns="0" bIns="0" rtlCol="0" anchor="t"/>
          <a:lstStyle/>
          <a:p>
            <a:pPr indent="0" marL="0">
              <a:buNone/>
            </a:pPr>
            <a:r>
              <a:rPr lang="en-US" sz="1600" b="1" dirty="0">
                <a:solidFill>
                  <a:schemeClr val="tx2"/>
                </a:solidFill>
              </a:rPr>
              <a:t>Prétraitement</a:t>
            </a:r>
            <a:endParaRPr lang="en-US" sz="1600" dirty="0"/>
          </a:p>
        </p:txBody>
      </p:sp>
      <p:sp>
        <p:nvSpPr>
          <p:cNvPr id="7" name="Text 5"/>
          <p:cNvSpPr txBox="1"/>
          <p:nvPr/>
        </p:nvSpPr>
        <p:spPr>
          <a:xfrm>
            <a:off x="640080" y="2514600"/>
            <a:ext cx="1554480" cy="914400"/>
          </a:xfrm>
          <a:prstGeom prst="rect">
            <a:avLst/>
          </a:prstGeom>
          <a:noFill/>
          <a:ln/>
        </p:spPr>
        <p:txBody>
          <a:bodyPr wrap="square" lIns="0" tIns="0" rIns="0" bIns="0" rtlCol="0" anchor="t"/>
          <a:lstStyle/>
          <a:p>
            <a:pPr indent="0" marL="0">
              <a:buNone/>
            </a:pPr>
            <a:r>
              <a:rPr lang="en-US" sz="1200" dirty="0">
                <a:solidFill>
                  <a:schemeClr val="tx1"/>
                </a:solidFill>
              </a:rPr>
              <a:t>Nettoyage, tokenisation, POS, lemmes · TF-IDF, MiniLM</a:t>
            </a:r>
            <a:endParaRPr lang="en-US" sz="1200" dirty="0"/>
          </a:p>
        </p:txBody>
      </p:sp>
      <p:sp>
        <p:nvSpPr>
          <p:cNvPr id="8" name="Text 6"/>
          <p:cNvSpPr txBox="1"/>
          <p:nvPr/>
        </p:nvSpPr>
        <p:spPr>
          <a:xfrm>
            <a:off x="640080" y="3520440"/>
            <a:ext cx="1554480" cy="502920"/>
          </a:xfrm>
          <a:prstGeom prst="rect">
            <a:avLst/>
          </a:prstGeom>
          <a:noFill/>
          <a:ln/>
        </p:spPr>
        <p:txBody>
          <a:bodyPr wrap="square" lIns="0" tIns="0" rIns="0" bIns="0" rtlCol="0" anchor="t"/>
          <a:lstStyle/>
          <a:p>
            <a:pPr indent="0" marL="0">
              <a:buNone/>
            </a:pPr>
            <a:r>
              <a:rPr lang="en-US" sz="1000" i="1" dirty="0">
                <a:solidFill>
                  <a:srgbClr val="4A5568"/>
                </a:solidFill>
              </a:rPr>
              <a:t>NLTK · spaCy · scikit-learn</a:t>
            </a:r>
            <a:endParaRPr lang="en-US" sz="1000" dirty="0"/>
          </a:p>
        </p:txBody>
      </p:sp>
      <p:sp>
        <p:nvSpPr>
          <p:cNvPr id="9" name="Text 7"/>
          <p:cNvSpPr txBox="1"/>
          <p:nvPr/>
        </p:nvSpPr>
        <p:spPr>
          <a:xfrm>
            <a:off x="2331720" y="2377440"/>
            <a:ext cx="228600" cy="457200"/>
          </a:xfrm>
          <a:prstGeom prst="rect">
            <a:avLst/>
          </a:prstGeom>
          <a:noFill/>
          <a:ln/>
        </p:spPr>
        <p:txBody>
          <a:bodyPr wrap="square" lIns="0" tIns="0" rIns="0" bIns="0" rtlCol="0" anchor="t"/>
          <a:lstStyle/>
          <a:p>
            <a:pPr algn="ctr" indent="0" marL="0">
              <a:buNone/>
            </a:pPr>
            <a:r>
              <a:rPr lang="en-US" sz="2400" b="1" dirty="0">
                <a:solidFill>
                  <a:schemeClr val="accent2"/>
                </a:solidFill>
              </a:rPr>
              <a:t>›</a:t>
            </a:r>
            <a:endParaRPr lang="en-US" sz="2400" dirty="0"/>
          </a:p>
        </p:txBody>
      </p:sp>
      <p:sp>
        <p:nvSpPr>
          <p:cNvPr id="10" name="étape B"/>
          <p:cNvSpPr/>
          <p:nvPr/>
        </p:nvSpPr>
        <p:spPr>
          <a:xfrm>
            <a:off x="2560320" y="1280160"/>
            <a:ext cx="1874520" cy="2834640"/>
          </a:xfrm>
          <a:prstGeom prst="roundRect">
            <a:avLst>
              <a:gd name="adj" fmla="val 3902"/>
            </a:avLst>
          </a:prstGeom>
          <a:solidFill>
            <a:schemeClr val="bg2"/>
          </a:solidFill>
          <a:ln w="12700">
            <a:solidFill>
              <a:schemeClr val="bg2"/>
            </a:solidFill>
            <a:prstDash val="solid"/>
          </a:ln>
        </p:spPr>
      </p:sp>
      <p:sp>
        <p:nvSpPr>
          <p:cNvPr id="11" name="badge B"/>
          <p:cNvSpPr/>
          <p:nvPr/>
        </p:nvSpPr>
        <p:spPr>
          <a:xfrm>
            <a:off x="2743200" y="1463040"/>
            <a:ext cx="457200" cy="457200"/>
          </a:xfrm>
          <a:prstGeom prst="ellipse">
            <a:avLst/>
          </a:prstGeom>
          <a:solidFill>
            <a:srgbClr val="2A9D8F"/>
          </a:solidFill>
          <a:ln w="12700">
            <a:solidFill>
              <a:srgbClr val="2A9D8F"/>
            </a:solidFill>
            <a:prstDash val="solid"/>
          </a:ln>
        </p:spPr>
      </p:sp>
      <p:sp>
        <p:nvSpPr>
          <p:cNvPr id="12" name="Text 10"/>
          <p:cNvSpPr txBox="1"/>
          <p:nvPr/>
        </p:nvSpPr>
        <p:spPr>
          <a:xfrm>
            <a:off x="274320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3" name="Text 11"/>
          <p:cNvSpPr txBox="1"/>
          <p:nvPr/>
        </p:nvSpPr>
        <p:spPr>
          <a:xfrm>
            <a:off x="2743200" y="2057400"/>
            <a:ext cx="1554480" cy="411480"/>
          </a:xfrm>
          <a:prstGeom prst="rect">
            <a:avLst/>
          </a:prstGeom>
          <a:noFill/>
          <a:ln/>
        </p:spPr>
        <p:txBody>
          <a:bodyPr wrap="square" lIns="0" tIns="0" rIns="0" bIns="0" rtlCol="0" anchor="t"/>
          <a:lstStyle/>
          <a:p>
            <a:pPr indent="0" marL="0">
              <a:buNone/>
            </a:pPr>
            <a:r>
              <a:rPr lang="en-US" sz="1600" b="1" dirty="0">
                <a:solidFill>
                  <a:schemeClr val="tx2"/>
                </a:solidFill>
              </a:rPr>
              <a:t>Entités</a:t>
            </a:r>
            <a:endParaRPr lang="en-US" sz="1600" dirty="0"/>
          </a:p>
        </p:txBody>
      </p:sp>
      <p:sp>
        <p:nvSpPr>
          <p:cNvPr id="14" name="Text 12"/>
          <p:cNvSpPr txBox="1"/>
          <p:nvPr/>
        </p:nvSpPr>
        <p:spPr>
          <a:xfrm>
            <a:off x="2743200" y="2514600"/>
            <a:ext cx="1554480" cy="914400"/>
          </a:xfrm>
          <a:prstGeom prst="rect">
            <a:avLst/>
          </a:prstGeom>
          <a:noFill/>
          <a:ln/>
        </p:spPr>
        <p:txBody>
          <a:bodyPr wrap="square" lIns="0" tIns="0" rIns="0" bIns="0" rtlCol="0" anchor="t"/>
          <a:lstStyle/>
          <a:p>
            <a:pPr indent="0" marL="0">
              <a:buNone/>
            </a:pPr>
            <a:r>
              <a:rPr lang="en-US" sz="1200" dirty="0">
                <a:solidFill>
                  <a:schemeClr val="tx1"/>
                </a:solidFill>
              </a:rPr>
              <a:t>Règles, spaCy, CRF · évaluation P/R/F1</a:t>
            </a:r>
            <a:endParaRPr lang="en-US" sz="1200" dirty="0"/>
          </a:p>
        </p:txBody>
      </p:sp>
      <p:sp>
        <p:nvSpPr>
          <p:cNvPr id="15" name="Text 13"/>
          <p:cNvSpPr txBox="1"/>
          <p:nvPr/>
        </p:nvSpPr>
        <p:spPr>
          <a:xfrm>
            <a:off x="2743200" y="3520440"/>
            <a:ext cx="1554480" cy="502920"/>
          </a:xfrm>
          <a:prstGeom prst="rect">
            <a:avLst/>
          </a:prstGeom>
          <a:noFill/>
          <a:ln/>
        </p:spPr>
        <p:txBody>
          <a:bodyPr wrap="square" lIns="0" tIns="0" rIns="0" bIns="0" rtlCol="0" anchor="t"/>
          <a:lstStyle/>
          <a:p>
            <a:pPr indent="0" marL="0">
              <a:buNone/>
            </a:pPr>
            <a:r>
              <a:rPr lang="en-US" sz="1000" i="1" dirty="0">
                <a:solidFill>
                  <a:srgbClr val="4A5568"/>
                </a:solidFill>
              </a:rPr>
              <a:t>EntityRuler · sklearn-crfsuite</a:t>
            </a:r>
            <a:endParaRPr lang="en-US" sz="1000" dirty="0"/>
          </a:p>
        </p:txBody>
      </p:sp>
      <p:sp>
        <p:nvSpPr>
          <p:cNvPr id="16" name="Text 14"/>
          <p:cNvSpPr txBox="1"/>
          <p:nvPr/>
        </p:nvSpPr>
        <p:spPr>
          <a:xfrm>
            <a:off x="4434840" y="2377440"/>
            <a:ext cx="228600" cy="457200"/>
          </a:xfrm>
          <a:prstGeom prst="rect">
            <a:avLst/>
          </a:prstGeom>
          <a:noFill/>
          <a:ln/>
        </p:spPr>
        <p:txBody>
          <a:bodyPr wrap="square" lIns="0" tIns="0" rIns="0" bIns="0" rtlCol="0" anchor="t"/>
          <a:lstStyle/>
          <a:p>
            <a:pPr algn="ctr" indent="0" marL="0">
              <a:buNone/>
            </a:pPr>
            <a:r>
              <a:rPr lang="en-US" sz="2400" b="1" dirty="0">
                <a:solidFill>
                  <a:schemeClr val="accent2"/>
                </a:solidFill>
              </a:rPr>
              <a:t>›</a:t>
            </a:r>
            <a:endParaRPr lang="en-US" sz="2400" dirty="0"/>
          </a:p>
        </p:txBody>
      </p:sp>
      <p:sp>
        <p:nvSpPr>
          <p:cNvPr id="17" name="étape C"/>
          <p:cNvSpPr/>
          <p:nvPr/>
        </p:nvSpPr>
        <p:spPr>
          <a:xfrm>
            <a:off x="4663440" y="1280160"/>
            <a:ext cx="1874520" cy="2834640"/>
          </a:xfrm>
          <a:prstGeom prst="roundRect">
            <a:avLst>
              <a:gd name="adj" fmla="val 3902"/>
            </a:avLst>
          </a:prstGeom>
          <a:solidFill>
            <a:schemeClr val="bg2"/>
          </a:solidFill>
          <a:ln w="12700">
            <a:solidFill>
              <a:schemeClr val="bg2"/>
            </a:solidFill>
            <a:prstDash val="solid"/>
          </a:ln>
        </p:spPr>
      </p:sp>
      <p:sp>
        <p:nvSpPr>
          <p:cNvPr id="18" name="badge C"/>
          <p:cNvSpPr/>
          <p:nvPr/>
        </p:nvSpPr>
        <p:spPr>
          <a:xfrm>
            <a:off x="4846320" y="1463040"/>
            <a:ext cx="457200" cy="457200"/>
          </a:xfrm>
          <a:prstGeom prst="ellipse">
            <a:avLst/>
          </a:prstGeom>
          <a:solidFill>
            <a:srgbClr val="14213D"/>
          </a:solidFill>
          <a:ln w="12700">
            <a:solidFill>
              <a:srgbClr val="14213D"/>
            </a:solidFill>
            <a:prstDash val="solid"/>
          </a:ln>
        </p:spPr>
      </p:sp>
      <p:sp>
        <p:nvSpPr>
          <p:cNvPr id="19" name="Text 17"/>
          <p:cNvSpPr txBox="1"/>
          <p:nvPr/>
        </p:nvSpPr>
        <p:spPr>
          <a:xfrm>
            <a:off x="484632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20" name="Text 18"/>
          <p:cNvSpPr txBox="1"/>
          <p:nvPr/>
        </p:nvSpPr>
        <p:spPr>
          <a:xfrm>
            <a:off x="4846320" y="2057400"/>
            <a:ext cx="1554480" cy="411480"/>
          </a:xfrm>
          <a:prstGeom prst="rect">
            <a:avLst/>
          </a:prstGeom>
          <a:noFill/>
          <a:ln/>
        </p:spPr>
        <p:txBody>
          <a:bodyPr wrap="square" lIns="0" tIns="0" rIns="0" bIns="0" rtlCol="0" anchor="t"/>
          <a:lstStyle/>
          <a:p>
            <a:pPr indent="0" marL="0">
              <a:buNone/>
            </a:pPr>
            <a:r>
              <a:rPr lang="en-US" sz="1600" b="1" dirty="0">
                <a:solidFill>
                  <a:schemeClr val="tx2"/>
                </a:solidFill>
              </a:rPr>
              <a:t>Relations + KG</a:t>
            </a:r>
            <a:endParaRPr lang="en-US" sz="1600" dirty="0"/>
          </a:p>
        </p:txBody>
      </p:sp>
      <p:sp>
        <p:nvSpPr>
          <p:cNvPr id="21" name="Text 19"/>
          <p:cNvSpPr txBox="1"/>
          <p:nvPr/>
        </p:nvSpPr>
        <p:spPr>
          <a:xfrm>
            <a:off x="4846320" y="2514600"/>
            <a:ext cx="1554480" cy="914400"/>
          </a:xfrm>
          <a:prstGeom prst="rect">
            <a:avLst/>
          </a:prstGeom>
          <a:noFill/>
          <a:ln/>
        </p:spPr>
        <p:txBody>
          <a:bodyPr wrap="square" lIns="0" tIns="0" rIns="0" bIns="0" rtlCol="0" anchor="t"/>
          <a:lstStyle/>
          <a:p>
            <a:pPr indent="0" marL="0">
              <a:buNone/>
            </a:pPr>
            <a:r>
              <a:rPr lang="en-US" sz="1200" dirty="0">
                <a:solidFill>
                  <a:schemeClr val="tx1"/>
                </a:solidFill>
              </a:rPr>
              <a:t>Arbre de dépendances → triplets → graphe</a:t>
            </a:r>
            <a:endParaRPr lang="en-US" sz="1200" dirty="0"/>
          </a:p>
        </p:txBody>
      </p:sp>
      <p:sp>
        <p:nvSpPr>
          <p:cNvPr id="22" name="Text 20"/>
          <p:cNvSpPr txBox="1"/>
          <p:nvPr/>
        </p:nvSpPr>
        <p:spPr>
          <a:xfrm>
            <a:off x="4846320" y="3520440"/>
            <a:ext cx="1554480" cy="502920"/>
          </a:xfrm>
          <a:prstGeom prst="rect">
            <a:avLst/>
          </a:prstGeom>
          <a:noFill/>
          <a:ln/>
        </p:spPr>
        <p:txBody>
          <a:bodyPr wrap="square" lIns="0" tIns="0" rIns="0" bIns="0" rtlCol="0" anchor="t"/>
          <a:lstStyle/>
          <a:p>
            <a:pPr indent="0" marL="0">
              <a:buNone/>
            </a:pPr>
            <a:r>
              <a:rPr lang="en-US" sz="1000" i="1" dirty="0">
                <a:solidFill>
                  <a:srgbClr val="4A5568"/>
                </a:solidFill>
              </a:rPr>
              <a:t>spaCy · NetworkX · rdflib</a:t>
            </a:r>
            <a:endParaRPr lang="en-US" sz="1000" dirty="0"/>
          </a:p>
        </p:txBody>
      </p:sp>
      <p:sp>
        <p:nvSpPr>
          <p:cNvPr id="23" name="Text 21"/>
          <p:cNvSpPr txBox="1"/>
          <p:nvPr/>
        </p:nvSpPr>
        <p:spPr>
          <a:xfrm>
            <a:off x="6537960" y="2377440"/>
            <a:ext cx="228600" cy="457200"/>
          </a:xfrm>
          <a:prstGeom prst="rect">
            <a:avLst/>
          </a:prstGeom>
          <a:noFill/>
          <a:ln/>
        </p:spPr>
        <p:txBody>
          <a:bodyPr wrap="square" lIns="0" tIns="0" rIns="0" bIns="0" rtlCol="0" anchor="t"/>
          <a:lstStyle/>
          <a:p>
            <a:pPr algn="ctr" indent="0" marL="0">
              <a:buNone/>
            </a:pPr>
            <a:r>
              <a:rPr lang="en-US" sz="2400" b="1" dirty="0">
                <a:solidFill>
                  <a:schemeClr val="accent2"/>
                </a:solidFill>
              </a:rPr>
              <a:t>›</a:t>
            </a:r>
            <a:endParaRPr lang="en-US" sz="2400" dirty="0"/>
          </a:p>
        </p:txBody>
      </p:sp>
      <p:sp>
        <p:nvSpPr>
          <p:cNvPr id="24" name="étape D"/>
          <p:cNvSpPr/>
          <p:nvPr/>
        </p:nvSpPr>
        <p:spPr>
          <a:xfrm>
            <a:off x="6766560" y="1280160"/>
            <a:ext cx="1874520" cy="2834640"/>
          </a:xfrm>
          <a:prstGeom prst="roundRect">
            <a:avLst>
              <a:gd name="adj" fmla="val 3902"/>
            </a:avLst>
          </a:prstGeom>
          <a:solidFill>
            <a:schemeClr val="bg2"/>
          </a:solidFill>
          <a:ln w="12700">
            <a:solidFill>
              <a:schemeClr val="bg2"/>
            </a:solidFill>
            <a:prstDash val="solid"/>
          </a:ln>
        </p:spPr>
      </p:sp>
      <p:sp>
        <p:nvSpPr>
          <p:cNvPr id="25" name="badge D"/>
          <p:cNvSpPr/>
          <p:nvPr/>
        </p:nvSpPr>
        <p:spPr>
          <a:xfrm>
            <a:off x="6949440" y="1463040"/>
            <a:ext cx="457200" cy="457200"/>
          </a:xfrm>
          <a:prstGeom prst="ellipse">
            <a:avLst/>
          </a:prstGeom>
          <a:solidFill>
            <a:srgbClr val="C44E52"/>
          </a:solidFill>
          <a:ln w="12700">
            <a:solidFill>
              <a:srgbClr val="C44E52"/>
            </a:solidFill>
            <a:prstDash val="solid"/>
          </a:ln>
        </p:spPr>
      </p:sp>
      <p:sp>
        <p:nvSpPr>
          <p:cNvPr id="26" name="Text 24"/>
          <p:cNvSpPr txBox="1"/>
          <p:nvPr/>
        </p:nvSpPr>
        <p:spPr>
          <a:xfrm>
            <a:off x="694944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27" name="Text 25"/>
          <p:cNvSpPr txBox="1"/>
          <p:nvPr/>
        </p:nvSpPr>
        <p:spPr>
          <a:xfrm>
            <a:off x="6949440" y="2057400"/>
            <a:ext cx="1554480" cy="411480"/>
          </a:xfrm>
          <a:prstGeom prst="rect">
            <a:avLst/>
          </a:prstGeom>
          <a:noFill/>
          <a:ln/>
        </p:spPr>
        <p:txBody>
          <a:bodyPr wrap="square" lIns="0" tIns="0" rIns="0" bIns="0" rtlCol="0" anchor="t"/>
          <a:lstStyle/>
          <a:p>
            <a:pPr indent="0" marL="0">
              <a:buNone/>
            </a:pPr>
            <a:r>
              <a:rPr lang="en-US" sz="1600" b="1" dirty="0">
                <a:solidFill>
                  <a:schemeClr val="tx2"/>
                </a:solidFill>
              </a:rPr>
              <a:t>LLM + analyse</a:t>
            </a:r>
            <a:endParaRPr lang="en-US" sz="1600" dirty="0"/>
          </a:p>
        </p:txBody>
      </p:sp>
      <p:sp>
        <p:nvSpPr>
          <p:cNvPr id="28" name="Text 26"/>
          <p:cNvSpPr txBox="1"/>
          <p:nvPr/>
        </p:nvSpPr>
        <p:spPr>
          <a:xfrm>
            <a:off x="6949440" y="2514600"/>
            <a:ext cx="1554480" cy="914400"/>
          </a:xfrm>
          <a:prstGeom prst="rect">
            <a:avLst/>
          </a:prstGeom>
          <a:noFill/>
          <a:ln/>
        </p:spPr>
        <p:txBody>
          <a:bodyPr wrap="square" lIns="0" tIns="0" rIns="0" bIns="0" rtlCol="0" anchor="t"/>
          <a:lstStyle/>
          <a:p>
            <a:pPr indent="0" marL="0">
              <a:buNone/>
            </a:pPr>
            <a:r>
              <a:rPr lang="en-US" sz="1200" dirty="0">
                <a:solidFill>
                  <a:schemeClr val="tx1"/>
                </a:solidFill>
              </a:rPr>
              <a:t>Même tâche par un LLM, comparaison, QA</a:t>
            </a:r>
            <a:endParaRPr lang="en-US" sz="1200" dirty="0"/>
          </a:p>
        </p:txBody>
      </p:sp>
      <p:sp>
        <p:nvSpPr>
          <p:cNvPr id="29" name="Text 27"/>
          <p:cNvSpPr txBox="1"/>
          <p:nvPr/>
        </p:nvSpPr>
        <p:spPr>
          <a:xfrm>
            <a:off x="6949440" y="3520440"/>
            <a:ext cx="1554480" cy="502920"/>
          </a:xfrm>
          <a:prstGeom prst="rect">
            <a:avLst/>
          </a:prstGeom>
          <a:noFill/>
          <a:ln/>
        </p:spPr>
        <p:txBody>
          <a:bodyPr wrap="square" lIns="0" tIns="0" rIns="0" bIns="0" rtlCol="0" anchor="t"/>
          <a:lstStyle/>
          <a:p>
            <a:pPr indent="0" marL="0">
              <a:buNone/>
            </a:pPr>
            <a:r>
              <a:rPr lang="en-US" sz="1000" i="1" dirty="0">
                <a:solidFill>
                  <a:srgbClr val="4A5568"/>
                </a:solidFill>
              </a:rPr>
              <a:t>Transformers · Qwen2.5</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9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A — Deux nettoyages et deux représentations</a:t>
            </a:r>
            <a:endParaRPr lang="en-US" sz="2800" dirty="0"/>
          </a:p>
        </p:txBody>
      </p:sp>
      <p:sp>
        <p:nvSpPr>
          <p:cNvPr id="3" name="Text 1"/>
          <p:cNvSpPr txBox="1"/>
          <p:nvPr/>
        </p:nvSpPr>
        <p:spPr>
          <a:xfrm>
            <a:off x="457200" y="1097280"/>
            <a:ext cx="402336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Nettoyage léger pour la NER : on garde majuscules et ponctuation, on retire l'API phonétique et les écritures natives</a:t>
            </a:r>
            <a:endParaRPr lang="en-US" sz="1400" dirty="0"/>
          </a:p>
          <a:p>
            <a:pPr marL="342900" indent="-342900">
              <a:spcAft>
                <a:spcPts val="600"/>
              </a:spcAft>
              <a:buSzPct val="100000"/>
              <a:buChar char="•"/>
            </a:pPr>
            <a:r>
              <a:rPr lang="en-US" sz="1300" dirty="0">
                <a:solidFill>
                  <a:schemeClr val="tx1"/>
                </a:solidFill>
              </a:rPr>
              <a:t>Normalisation forte pour TF-IDF : lemmes, minuscules, sans mots vides</a:t>
            </a:r>
            <a:endParaRPr lang="en-US" sz="1400" dirty="0"/>
          </a:p>
          <a:p>
            <a:pPr marL="342900" indent="-342900">
              <a:spcAft>
                <a:spcPts val="600"/>
              </a:spcAft>
              <a:buSzPct val="100000"/>
              <a:buChar char="•"/>
            </a:pPr>
            <a:r>
              <a:rPr lang="en-US" sz="1300" dirty="0">
                <a:solidFill>
                  <a:schemeClr val="tx1"/>
                </a:solidFill>
              </a:rPr>
              <a:t>NLTK vs spaCy : même tokenisation, mais WordNet abîme les noms (« Hans » → « han »)</a:t>
            </a:r>
            <a:endParaRPr lang="en-US" sz="1400" dirty="0"/>
          </a:p>
          <a:p>
            <a:pPr marL="342900" indent="-342900">
              <a:spcAft>
                <a:spcPts val="600"/>
              </a:spcAft>
              <a:buSzPct val="100000"/>
              <a:buChar char="•"/>
            </a:pPr>
            <a:r>
              <a:rPr lang="en-US" sz="1300" dirty="0">
                <a:solidFill>
                  <a:schemeClr val="tx1"/>
                </a:solidFill>
              </a:rPr>
              <a:t>K-Means : silhouette max 0,02 (TF-IDF) vs 0,06 (MiniLM), clusters faibles car biographies très homogènes</a:t>
            </a:r>
            <a:endParaRPr lang="en-US" sz="1400" dirty="0"/>
          </a:p>
        </p:txBody>
      </p:sp>
      <p:pic>
        <p:nvPicPr>
          <p:cNvPr id="4" name="Image 0" descr="Projection PCA des embeddings MiniLM colorés par cluster">    </p:cNvPr>
          <p:cNvPicPr>
            <a:picLocks noChangeAspect="1"/>
          </p:cNvPicPr>
          <p:nvPr/>
        </p:nvPicPr>
        <p:blipFill>
          <a:blip r:embed="rId1"/>
          <a:stretch>
            <a:fillRect/>
          </a:stretch>
        </p:blipFill>
        <p:spPr>
          <a:xfrm>
            <a:off x="4663440" y="1051560"/>
            <a:ext cx="4023360" cy="2871216"/>
          </a:xfrm>
          <a:prstGeom prst="rect">
            <a:avLst/>
          </a:prstGeom>
        </p:spPr>
      </p:pic>
      <p:sp>
        <p:nvSpPr>
          <p:cNvPr id="5" name="Text 2"/>
          <p:cNvSpPr txBox="1"/>
          <p:nvPr/>
        </p:nvSpPr>
        <p:spPr>
          <a:xfrm>
            <a:off x="4663440" y="3977640"/>
            <a:ext cx="4023360" cy="365760"/>
          </a:xfrm>
          <a:prstGeom prst="rect">
            <a:avLst/>
          </a:prstGeom>
          <a:noFill/>
          <a:ln/>
        </p:spPr>
        <p:txBody>
          <a:bodyPr wrap="square" lIns="0" tIns="0" rIns="0" bIns="0" rtlCol="0" anchor="t"/>
          <a:lstStyle/>
          <a:p>
            <a:pPr indent="0" marL="0">
              <a:buNone/>
            </a:pPr>
            <a:r>
              <a:rPr lang="en-US" sz="1000" dirty="0">
                <a:solidFill>
                  <a:srgbClr val="4A5568"/>
                </a:solidFill>
              </a:rPr>
              <a:t>Embeddings MiniLM projetés en 2D (PCA), couleur = cluster K-Means</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9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B — Le CRF domine la NER sur CoNLL-2003</a:t>
            </a:r>
            <a:endParaRPr lang="en-US" sz="2800" dirty="0"/>
          </a:p>
        </p:txBody>
      </p:sp>
      <p:graphicFrame>
        <p:nvGraphicFramePr>
          <p:cNvPr id="3" name="Chart 0" descr=""/>
          <p:cNvGraphicFramePr/>
          <p:nvPr/>
        </p:nvGraphicFramePr>
        <p:xfrm>
          <a:off x="365760" y="1051560"/>
          <a:ext cx="5120640" cy="34747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0" y="1143000"/>
          <a:ext cx="3017520" cy="914400"/>
        </p:xfrm>
        <a:graphic>
          <a:graphicData uri="http://schemas.openxmlformats.org/drawingml/2006/table">
            <a:tbl>
              <a:tblPr/>
              <a:tblGrid>
                <a:gridCol w="1508760"/>
                <a:gridCol w="502920"/>
                <a:gridCol w="502920"/>
                <a:gridCol w="502920"/>
              </a:tblGrid>
              <a:tr h="0">
                <a:tc>
                  <a:txBody>
                    <a:bodyPr/>
                    <a:lstStyle/>
                    <a:p>
                      <a:pPr indent="0" marL="0">
                        <a:buNone/>
                      </a:pPr>
                      <a:r>
                        <a:rPr lang="en-US" sz="1100" b="1" dirty="0">
                          <a:solidFill>
                            <a:srgbClr val="1B2333"/>
                          </a:solidFill>
                          <a:latin typeface="Calibri" pitchFamily="34" charset="0"/>
                          <a:ea typeface="Calibri" pitchFamily="34" charset="-122"/>
                          <a:cs typeface="Calibri" pitchFamily="34" charset="-120"/>
                        </a:rPr>
                        <a:t>Modèle</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b="1" dirty="0">
                          <a:solidFill>
                            <a:srgbClr val="1B2333"/>
                          </a:solidFill>
                          <a:latin typeface="Calibri" pitchFamily="34" charset="0"/>
                          <a:ea typeface="Calibri" pitchFamily="34" charset="-122"/>
                          <a:cs typeface="Calibri" pitchFamily="34" charset="-120"/>
                        </a:rPr>
                        <a:t>P</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b="1" dirty="0">
                          <a:solidFill>
                            <a:srgbClr val="1B2333"/>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b="1" dirty="0">
                          <a:solidFill>
                            <a:srgbClr val="1B2333"/>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Règles</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0,75</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0,52</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0,61</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spaCy en_core_web_sm</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0,66</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0,55</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0,59</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CRF</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0,82</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0,81</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0,81</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669280" y="2514600"/>
            <a:ext cx="3017520" cy="21031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Règles : précises mais ratent tout ce qui n'est pas dans le dictionnaire</a:t>
            </a:r>
            <a:endParaRPr lang="en-US" sz="1400" dirty="0"/>
          </a:p>
          <a:p>
            <a:pPr marL="342900" indent="-342900">
              <a:spcAft>
                <a:spcPts val="600"/>
              </a:spcAft>
              <a:buSzPct val="100000"/>
              <a:buChar char="•"/>
            </a:pPr>
            <a:r>
              <a:rPr lang="en-US" sz="1200" dirty="0">
                <a:solidFill>
                  <a:schemeClr val="tx1"/>
                </a:solidFill>
              </a:rPr>
              <a:t>spaCy : pénalisé par la projection OntoNotes → CoNLL (MISC)</a:t>
            </a:r>
            <a:endParaRPr lang="en-US" sz="1400" dirty="0"/>
          </a:p>
          <a:p>
            <a:pPr marL="342900" indent="-342900">
              <a:spcAft>
                <a:spcPts val="600"/>
              </a:spcAft>
              <a:buSzPct val="100000"/>
              <a:buChar char="•"/>
            </a:pPr>
            <a:r>
              <a:rPr lang="en-US" sz="1200" dirty="0">
                <a:solidFill>
                  <a:schemeClr val="tx1"/>
                </a:solidFill>
              </a:rPr>
              <a:t>Hors domaine (Wikipedia), CRF et spaCy ne s'accordent qu'à F1 0,46</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9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 — Relations extraites de la syntaxe</a:t>
            </a:r>
            <a:endParaRPr lang="en-US" sz="2800" dirty="0"/>
          </a:p>
        </p:txBody>
      </p:sp>
      <p:sp>
        <p:nvSpPr>
          <p:cNvPr id="3" name="exemple de phrase"/>
          <p:cNvSpPr/>
          <p:nvPr/>
        </p:nvSpPr>
        <p:spPr>
          <a:xfrm>
            <a:off x="457200" y="1097280"/>
            <a:ext cx="8229600" cy="1097280"/>
          </a:xfrm>
          <a:prstGeom prst="roundRect">
            <a:avLst>
              <a:gd name="adj" fmla="val 6667"/>
            </a:avLst>
          </a:prstGeom>
          <a:solidFill>
            <a:schemeClr val="bg2"/>
          </a:solidFill>
          <a:ln w="12700">
            <a:solidFill>
              <a:schemeClr val="bg2"/>
            </a:solidFill>
            <a:prstDash val="solid"/>
          </a:ln>
        </p:spPr>
      </p:sp>
      <p:sp>
        <p:nvSpPr>
          <p:cNvPr id="4" name="Text 2"/>
          <p:cNvSpPr txBox="1"/>
          <p:nvPr/>
        </p:nvSpPr>
        <p:spPr>
          <a:xfrm>
            <a:off x="640080" y="1234440"/>
            <a:ext cx="7863840" cy="411480"/>
          </a:xfrm>
          <a:prstGeom prst="rect">
            <a:avLst/>
          </a:prstGeom>
          <a:noFill/>
          <a:ln/>
        </p:spPr>
        <p:txBody>
          <a:bodyPr wrap="square" lIns="0" tIns="0" rIns="0" bIns="0" rtlCol="0" anchor="t"/>
          <a:lstStyle/>
          <a:p>
            <a:pPr indent="0" marL="0">
              <a:buNone/>
            </a:pPr>
            <a:r>
              <a:rPr lang="en-US" sz="1600" i="1" dirty="0">
                <a:solidFill>
                  <a:schemeClr val="tx1"/>
                </a:solidFill>
              </a:rPr>
              <a:t>Born in </a:t>
            </a:r>
            <a:pPr indent="0" marL="0">
              <a:buNone/>
            </a:pPr>
            <a:r>
              <a:rPr lang="en-US" sz="1600" b="1" i="1" dirty="0">
                <a:solidFill>
                  <a:schemeClr val="accent3"/>
                </a:solidFill>
              </a:rPr>
              <a:t>Belgium</a:t>
            </a:r>
            <a:pPr indent="0" marL="0">
              <a:buNone/>
            </a:pPr>
            <a:r>
              <a:rPr lang="en-US" sz="1600" i="1" dirty="0">
                <a:solidFill>
                  <a:schemeClr val="tx1"/>
                </a:solidFill>
              </a:rPr>
              <a:t>, he was educated at </a:t>
            </a:r>
            <a:pPr indent="0" marL="0">
              <a:buNone/>
            </a:pPr>
            <a:r>
              <a:rPr lang="en-US" sz="1600" b="1" i="1" dirty="0">
                <a:solidFill>
                  <a:schemeClr val="accent2"/>
                </a:solidFill>
              </a:rPr>
              <a:t>the Catholic University of Leuven</a:t>
            </a:r>
            <a:pPr indent="0" marL="0">
              <a:buNone/>
            </a:pPr>
            <a:r>
              <a:rPr lang="en-US" sz="1600" i="1" dirty="0">
                <a:solidFill>
                  <a:schemeClr val="tx1"/>
                </a:solidFill>
              </a:rPr>
              <a:t> and worked at </a:t>
            </a:r>
            <a:pPr indent="0" marL="0">
              <a:buNone/>
            </a:pPr>
            <a:r>
              <a:rPr lang="en-US" sz="1600" b="1" i="1" dirty="0">
                <a:solidFill>
                  <a:schemeClr val="accent4"/>
                </a:solidFill>
              </a:rPr>
              <a:t>CERN</a:t>
            </a:r>
            <a:pPr indent="0" marL="0">
              <a:buNone/>
            </a:pPr>
            <a:r>
              <a:rPr lang="en-US" sz="1600" i="1" dirty="0">
                <a:solidFill>
                  <a:schemeClr val="tx1"/>
                </a:solidFill>
              </a:rPr>
              <a:t>.</a:t>
            </a:r>
            <a:endParaRPr lang="en-US" sz="1600" dirty="0"/>
          </a:p>
        </p:txBody>
      </p:sp>
      <p:sp>
        <p:nvSpPr>
          <p:cNvPr id="5" name="Text 3"/>
          <p:cNvSpPr txBox="1"/>
          <p:nvPr/>
        </p:nvSpPr>
        <p:spPr>
          <a:xfrm>
            <a:off x="640080" y="1691640"/>
            <a:ext cx="7863840" cy="365760"/>
          </a:xfrm>
          <a:prstGeom prst="rect">
            <a:avLst/>
          </a:prstGeom>
          <a:noFill/>
          <a:ln/>
        </p:spPr>
        <p:txBody>
          <a:bodyPr wrap="square" lIns="0" tIns="0" rIns="0" bIns="0" rtlCol="0" anchor="t"/>
          <a:lstStyle/>
          <a:p>
            <a:pPr indent="0" marL="0">
              <a:buNone/>
            </a:pPr>
            <a:r>
              <a:rPr lang="en-US" sz="1200" dirty="0">
                <a:solidFill>
                  <a:srgbClr val="4A5568"/>
                </a:solidFill>
              </a:rPr>
              <a:t>he → personne de l'article (Francis Halzen) · entité → ancêtres jusqu'au premier mot déclencheur</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423160"/>
          <a:ext cx="4937760" cy="914400"/>
        </p:xfrm>
        <a:graphic>
          <a:graphicData uri="http://schemas.openxmlformats.org/drawingml/2006/table">
            <a:tbl>
              <a:tblPr/>
              <a:tblGrid>
                <a:gridCol w="2194560"/>
                <a:gridCol w="1645920"/>
                <a:gridCol w="1097280"/>
              </a:tblGrid>
              <a:tr h="0">
                <a:tc>
                  <a:txBody>
                    <a:bodyPr/>
                    <a:lstStyle/>
                    <a:p>
                      <a:pPr indent="0" marL="0">
                        <a:buNone/>
                      </a:pPr>
                      <a:r>
                        <a:rPr lang="en-US" sz="1100" b="1" dirty="0">
                          <a:solidFill>
                            <a:srgbClr val="1B2333"/>
                          </a:solidFill>
                          <a:latin typeface="Calibri" pitchFamily="34" charset="0"/>
                          <a:ea typeface="Calibri" pitchFamily="34" charset="-122"/>
                          <a:cs typeface="Calibri" pitchFamily="34" charset="-120"/>
                        </a:rPr>
                        <a:t>Entité (type)</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b="1" dirty="0">
                          <a:solidFill>
                            <a:srgbClr val="1B2333"/>
                          </a:solidFill>
                          <a:latin typeface="Calibri" pitchFamily="34" charset="0"/>
                          <a:ea typeface="Calibri" pitchFamily="34" charset="-122"/>
                          <a:cs typeface="Calibri" pitchFamily="34" charset="-120"/>
                        </a:rPr>
                        <a:t>Chemin vers le déclencheur</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b="1" dirty="0">
                          <a:solidFill>
                            <a:srgbClr val="1B2333"/>
                          </a:solidFill>
                          <a:latin typeface="Calibri" pitchFamily="34" charset="0"/>
                          <a:ea typeface="Calibri" pitchFamily="34" charset="-122"/>
                          <a:cs typeface="Calibri" pitchFamily="34" charset="-120"/>
                        </a:rPr>
                        <a:t>Relation</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0">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Belgium (GPE)</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in → Born</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born_in</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0">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Catholic University of Leuven (ORG)</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at → educated</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educated_at</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0">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CERN (GPE, rattrapé par règle)</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at → worked</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worked_at</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bl>
          </a:graphicData>
        </a:graphic>
      </p:graphicFrame>
      <p:sp>
        <p:nvSpPr>
          <p:cNvPr id="7" name="Text 4"/>
          <p:cNvSpPr txBox="1"/>
          <p:nvPr/>
        </p:nvSpPr>
        <p:spPr>
          <a:xfrm>
            <a:off x="5669280" y="2423160"/>
            <a:ext cx="3017520" cy="21031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Type d'entité contrôlé : lieu pour born_in, organisation pour worked_at</a:t>
            </a:r>
            <a:endParaRPr lang="en-US" sz="1400" dirty="0"/>
          </a:p>
          <a:p>
            <a:pPr marL="342900" indent="-342900">
              <a:spcAft>
                <a:spcPts val="600"/>
              </a:spcAft>
              <a:buSzPct val="100000"/>
              <a:buChar char="•"/>
            </a:pPr>
            <a:r>
              <a:rPr lang="en-US" sz="1200" dirty="0">
                <a:solidFill>
                  <a:schemeClr val="tx1"/>
                </a:solidFill>
              </a:rPr>
              <a:t>« received his PhD from » : études, pas un prix</a:t>
            </a:r>
            <a:endParaRPr lang="en-US" sz="1400" dirty="0"/>
          </a:p>
          <a:p>
            <a:pPr marL="342900" indent="-342900">
              <a:spcAft>
                <a:spcPts val="600"/>
              </a:spcAft>
              <a:buSzPct val="100000"/>
              <a:buChar char="•"/>
            </a:pPr>
            <a:r>
              <a:rPr lang="en-US" sz="1200" dirty="0">
                <a:solidFill>
                  <a:schemeClr val="tx1"/>
                </a:solidFill>
              </a:rPr>
              <a:t>Chaque triplet garde sa phrase source et son déclencheur</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91"/>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 — Un KG précis sur les naissances et les prix</a:t>
            </a:r>
            <a:endParaRPr lang="en-US" sz="2800" dirty="0"/>
          </a:p>
        </p:txBody>
      </p:sp>
      <p:graphicFrame>
        <p:nvGraphicFramePr>
          <p:cNvPr id="3" name="Chart 0" descr=""/>
          <p:cNvGraphicFramePr/>
          <p:nvPr/>
        </p:nvGraphicFramePr>
        <p:xfrm>
          <a:off x="365760" y="1051560"/>
          <a:ext cx="5303520" cy="3520440"/>
        </p:xfrm>
        <a:graphic xmlns:a="http://schemas.openxmlformats.org/drawingml/2006/main">
          <a:graphicData uri="http://schemas.openxmlformats.org/drawingml/2006/chart">
            <c:chart xmlns:c="http://schemas.openxmlformats.org/drawingml/2006/chart" r:id="rId1"/>
          </a:graphicData>
        </a:graphic>
      </p:graphicFrame>
      <p:sp>
        <p:nvSpPr>
          <p:cNvPr id="4" name="chiffres du KG"/>
          <p:cNvSpPr/>
          <p:nvPr/>
        </p:nvSpPr>
        <p:spPr>
          <a:xfrm>
            <a:off x="5897880" y="1097280"/>
            <a:ext cx="2788920" cy="3429000"/>
          </a:xfrm>
          <a:prstGeom prst="roundRect">
            <a:avLst>
              <a:gd name="adj" fmla="val 2623"/>
            </a:avLst>
          </a:prstGeom>
          <a:solidFill>
            <a:schemeClr val="bg2"/>
          </a:solidFill>
          <a:ln w="12700">
            <a:solidFill>
              <a:schemeClr val="bg2"/>
            </a:solidFill>
            <a:prstDash val="solid"/>
          </a:ln>
        </p:spPr>
      </p:sp>
      <p:sp>
        <p:nvSpPr>
          <p:cNvPr id="5" name="stat F1 global (P 0,75 · R 0,76)"/>
          <p:cNvSpPr txBox="1"/>
          <p:nvPr/>
        </p:nvSpPr>
        <p:spPr>
          <a:xfrm>
            <a:off x="6080760" y="1188720"/>
            <a:ext cx="246888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0,76</a:t>
            </a:r>
            <a:endParaRPr lang="en-US" sz="3600" dirty="0"/>
          </a:p>
        </p:txBody>
      </p:sp>
      <p:sp>
        <p:nvSpPr>
          <p:cNvPr id="6" name="Text 3"/>
          <p:cNvSpPr txBox="1"/>
          <p:nvPr/>
        </p:nvSpPr>
        <p:spPr>
          <a:xfrm>
            <a:off x="6080760" y="1874520"/>
            <a:ext cx="2468880" cy="502920"/>
          </a:xfrm>
          <a:prstGeom prst="rect">
            <a:avLst/>
          </a:prstGeom>
          <a:noFill/>
          <a:ln/>
        </p:spPr>
        <p:txBody>
          <a:bodyPr wrap="square" lIns="0" tIns="0" rIns="0" bIns="0" rtlCol="0" anchor="t"/>
          <a:lstStyle/>
          <a:p>
            <a:pPr indent="0" marL="0">
              <a:buNone/>
            </a:pPr>
            <a:r>
              <a:rPr lang="en-US" sz="1200" dirty="0">
                <a:solidFill>
                  <a:srgbClr val="4A5568"/>
                </a:solidFill>
              </a:rPr>
              <a:t>F1 global (P 0,75 · R 0,76)</a:t>
            </a:r>
            <a:endParaRPr lang="en-US" sz="1200" dirty="0"/>
          </a:p>
        </p:txBody>
      </p:sp>
      <p:sp>
        <p:nvSpPr>
          <p:cNvPr id="7" name="stat nœuds · arcs dans le KG classique"/>
          <p:cNvSpPr txBox="1"/>
          <p:nvPr/>
        </p:nvSpPr>
        <p:spPr>
          <a:xfrm>
            <a:off x="6080760" y="2286000"/>
            <a:ext cx="2468880" cy="68580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492 · 699</a:t>
            </a:r>
            <a:endParaRPr lang="en-US" sz="3600" dirty="0"/>
          </a:p>
        </p:txBody>
      </p:sp>
      <p:sp>
        <p:nvSpPr>
          <p:cNvPr id="8" name="Text 5"/>
          <p:cNvSpPr txBox="1"/>
          <p:nvPr/>
        </p:nvSpPr>
        <p:spPr>
          <a:xfrm>
            <a:off x="6080760" y="2971800"/>
            <a:ext cx="2468880" cy="502920"/>
          </a:xfrm>
          <a:prstGeom prst="rect">
            <a:avLst/>
          </a:prstGeom>
          <a:noFill/>
          <a:ln/>
        </p:spPr>
        <p:txBody>
          <a:bodyPr wrap="square" lIns="0" tIns="0" rIns="0" bIns="0" rtlCol="0" anchor="t"/>
          <a:lstStyle/>
          <a:p>
            <a:pPr indent="0" marL="0">
              <a:buNone/>
            </a:pPr>
            <a:r>
              <a:rPr lang="en-US" sz="1200" dirty="0">
                <a:solidFill>
                  <a:srgbClr val="4A5568"/>
                </a:solidFill>
              </a:rPr>
              <a:t>nœuds · arcs dans le KG classique</a:t>
            </a:r>
            <a:endParaRPr lang="en-US" sz="1200" dirty="0"/>
          </a:p>
        </p:txBody>
      </p:sp>
      <p:sp>
        <p:nvSpPr>
          <p:cNvPr id="9" name="Text 6"/>
          <p:cNvSpPr txBox="1"/>
          <p:nvPr/>
        </p:nvSpPr>
        <p:spPr>
          <a:xfrm>
            <a:off x="6080760" y="3520440"/>
            <a:ext cx="2468880" cy="822960"/>
          </a:xfrm>
          <a:prstGeom prst="rect">
            <a:avLst/>
          </a:prstGeom>
          <a:noFill/>
          <a:ln/>
        </p:spPr>
        <p:txBody>
          <a:bodyPr wrap="square" lIns="0" tIns="0" rIns="0" bIns="0" rtlCol="0" anchor="t"/>
          <a:lstStyle/>
          <a:p>
            <a:pPr indent="0" marL="0">
              <a:buNone/>
            </a:pPr>
            <a:r>
              <a:rPr lang="en-US" sz="1100" dirty="0">
                <a:solidFill>
                  <a:srgbClr val="4A5568"/>
                </a:solidFill>
              </a:rPr>
              <a:t>Exports : RDF/Turtle, GraphML (Neo4j, Gephi), CSV, HTML interactif</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9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Le graphe relie les lauréats par leurs institutions</a:t>
            </a:r>
            <a:endParaRPr lang="en-US" sz="2800" dirty="0"/>
          </a:p>
        </p:txBody>
      </p:sp>
      <p:pic>
        <p:nvPicPr>
          <p:cNvPr id="3" name="Image 0" descr="Ego-graphe de Marie Curie">    </p:cNvPr>
          <p:cNvPicPr>
            <a:picLocks noChangeAspect="1"/>
          </p:cNvPicPr>
          <p:nvPr/>
        </p:nvPicPr>
        <p:blipFill>
          <a:blip r:embed="rId1"/>
          <a:stretch>
            <a:fillRect/>
          </a:stretch>
        </p:blipFill>
        <p:spPr>
          <a:xfrm>
            <a:off x="457200" y="1051560"/>
            <a:ext cx="3931920" cy="2624328"/>
          </a:xfrm>
          <a:prstGeom prst="rect">
            <a:avLst/>
          </a:prstGeom>
        </p:spPr>
      </p:pic>
      <p:pic>
        <p:nvPicPr>
          <p:cNvPr id="4" name="Image 1" descr="Organisations et prix les plus partagés">    </p:cNvPr>
          <p:cNvPicPr>
            <a:picLocks noChangeAspect="1"/>
          </p:cNvPicPr>
          <p:nvPr/>
        </p:nvPicPr>
        <p:blipFill>
          <a:blip r:embed="rId2"/>
          <a:stretch>
            <a:fillRect/>
          </a:stretch>
        </p:blipFill>
        <p:spPr>
          <a:xfrm>
            <a:off x="4572000" y="1051560"/>
            <a:ext cx="4114800" cy="2852928"/>
          </a:xfrm>
          <a:prstGeom prst="rect">
            <a:avLst/>
          </a:prstGeom>
        </p:spPr>
      </p:pic>
      <p:sp>
        <p:nvSpPr>
          <p:cNvPr id="5" name="Text 1"/>
          <p:cNvSpPr txBox="1"/>
          <p:nvPr/>
        </p:nvSpPr>
        <p:spPr>
          <a:xfrm>
            <a:off x="457200" y="3749040"/>
            <a:ext cx="3931920" cy="365760"/>
          </a:xfrm>
          <a:prstGeom prst="rect">
            <a:avLst/>
          </a:prstGeom>
          <a:noFill/>
          <a:ln/>
        </p:spPr>
        <p:txBody>
          <a:bodyPr wrap="square" lIns="0" tIns="0" rIns="0" bIns="0" rtlCol="0" anchor="t"/>
          <a:lstStyle/>
          <a:p>
            <a:pPr indent="0" marL="0">
              <a:buNone/>
            </a:pPr>
            <a:r>
              <a:rPr lang="en-US" sz="1100" dirty="0">
                <a:solidFill>
                  <a:srgbClr val="4A5568"/>
                </a:solidFill>
              </a:rPr>
              <a:t>Ego-graphe de Marie Curie : naissance, études, prix, décès</a:t>
            </a:r>
            <a:endParaRPr lang="en-US" sz="1100" dirty="0"/>
          </a:p>
        </p:txBody>
      </p:sp>
      <p:sp>
        <p:nvSpPr>
          <p:cNvPr id="6" name="Text 2"/>
          <p:cNvSpPr txBox="1"/>
          <p:nvPr/>
        </p:nvSpPr>
        <p:spPr>
          <a:xfrm>
            <a:off x="4572000" y="3977640"/>
            <a:ext cx="4114800" cy="365760"/>
          </a:xfrm>
          <a:prstGeom prst="rect">
            <a:avLst/>
          </a:prstGeom>
          <a:noFill/>
          <a:ln/>
        </p:spPr>
        <p:txBody>
          <a:bodyPr wrap="square" lIns="0" tIns="0" rIns="0" bIns="0" rtlCol="0" anchor="t"/>
          <a:lstStyle/>
          <a:p>
            <a:pPr indent="0" marL="0">
              <a:buNone/>
            </a:pPr>
            <a:r>
              <a:rPr lang="en-US" sz="1100" dirty="0">
                <a:solidFill>
                  <a:srgbClr val="4A5568"/>
                </a:solidFill>
              </a:rPr>
              <a:t>Hubs : organisations et prix partagés par plusieurs lauréats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91"/>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D — Classique ou LLM : quel compromis ?</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5120640" cy="914400"/>
        </p:xfrm>
        <a:graphic>
          <a:graphicData uri="http://schemas.openxmlformats.org/drawingml/2006/table">
            <a:tbl>
              <a:tblPr/>
              <a:tblGrid>
                <a:gridCol w="1920240"/>
                <a:gridCol w="1600200"/>
                <a:gridCol w="1600200"/>
              </a:tblGrid>
              <a:tr h="0">
                <a:tc>
                  <a:txBody>
                    <a:bodyPr/>
                    <a:lstStyle/>
                    <a:p>
                      <a:pPr indent="0" marL="0">
                        <a:buNone/>
                      </a:pPr>
                      <a:r>
                        <a:rPr lang="en-US" sz="1100" b="1" dirty="0">
                          <a:solidFill>
                            <a:srgbClr val="1B2333"/>
                          </a:solidFill>
                          <a:latin typeface="Calibri" pitchFamily="34" charset="0"/>
                          <a:ea typeface="Calibri" pitchFamily="34" charset="-122"/>
                          <a:cs typeface="Calibri" pitchFamily="34" charset="-120"/>
                        </a:rPr>
                        <a:t>Critère</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b="1" dirty="0">
                          <a:solidFill>
                            <a:srgbClr val="1B2333"/>
                          </a:solidFill>
                          <a:latin typeface="Calibri" pitchFamily="34" charset="0"/>
                          <a:ea typeface="Calibri" pitchFamily="34" charset="-122"/>
                          <a:cs typeface="Calibri" pitchFamily="34" charset="-120"/>
                        </a:rPr>
                        <a:t>Classique</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b="1" dirty="0">
                          <a:solidFill>
                            <a:srgbClr val="1B2333"/>
                          </a:solidFill>
                          <a:latin typeface="Calibri" pitchFamily="34" charset="0"/>
                          <a:ea typeface="Calibri" pitchFamily="34" charset="-122"/>
                          <a:cs typeface="Calibri" pitchFamily="34" charset="-120"/>
                        </a:rPr>
                        <a:t>LLM (Qwen2.5-1.5B)</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0">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triplets</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699</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829</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0">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précision vs Wikidata</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0,75</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0,54</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0">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rappel (faits dans le texte)</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0,76</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0,64</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0">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0,76</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0,59</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0">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ancrage dans le texte</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0,89</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0">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temps total (150 textes)</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2,5 s</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72 min</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0">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explicabilité</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phrase + mot déclencheur</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aucune (boîte noire)</a:t>
                      </a:r>
                      <a:endParaRPr lang="en-US" sz="1100" dirty="0">
                        <a:latin typeface="Calibri" charset="0"/>
                        <a:ea typeface="Calibri" charset="0"/>
                        <a:cs typeface="Calibri"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bl>
          </a:graphicData>
        </a:graphic>
      </p:graphicFrame>
      <p:graphicFrame>
        <p:nvGraphicFramePr>
          <p:cNvPr id="4" name="Chart 0" descr=""/>
          <p:cNvGraphicFramePr/>
          <p:nvPr/>
        </p:nvGraphicFramePr>
        <p:xfrm>
          <a:off x="5715000" y="1051560"/>
          <a:ext cx="3063240" cy="35204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3886200"/>
            <a:ext cx="5120640" cy="685800"/>
          </a:xfrm>
          <a:prstGeom prst="rect">
            <a:avLst/>
          </a:prstGeom>
          <a:noFill/>
          <a:ln/>
        </p:spPr>
        <p:txBody>
          <a:bodyPr wrap="square" lIns="0" tIns="0" rIns="0" bIns="0" rtlCol="0" anchor="t"/>
          <a:lstStyle/>
          <a:p>
            <a:pPr indent="0" marL="0">
              <a:buNone/>
            </a:pPr>
            <a:r>
              <a:rPr lang="en-US" sz="1200" i="1" dirty="0">
                <a:solidFill>
                  <a:srgbClr val="4A5568"/>
                </a:solidFill>
              </a:rPr>
              <a:t>Le LLM retrouve mieux les études (formulations variées) mais invente ou déduit ~11 % des objets, et il est ≈ 1 700 fois plus lent sur CPU.</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91"/>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Usages du KG et difficultés linguistiques</a:t>
            </a:r>
            <a:endParaRPr lang="en-US" sz="2800" dirty="0"/>
          </a:p>
        </p:txBody>
      </p:sp>
      <p:sp>
        <p:nvSpPr>
          <p:cNvPr id="3" name="carte applications"/>
          <p:cNvSpPr/>
          <p:nvPr/>
        </p:nvSpPr>
        <p:spPr>
          <a:xfrm>
            <a:off x="457200" y="1097280"/>
            <a:ext cx="3977640" cy="3474720"/>
          </a:xfrm>
          <a:prstGeom prst="roundRect">
            <a:avLst>
              <a:gd name="adj" fmla="val 2105"/>
            </a:avLst>
          </a:prstGeom>
          <a:solidFill>
            <a:schemeClr val="bg2"/>
          </a:solidFill>
          <a:ln w="12700">
            <a:solidFill>
              <a:schemeClr val="bg2"/>
            </a:solidFill>
            <a:prstDash val="solid"/>
          </a:ln>
        </p:spPr>
      </p:sp>
      <p:sp>
        <p:nvSpPr>
          <p:cNvPr id="4" name="Text 2"/>
          <p:cNvSpPr txBox="1"/>
          <p:nvPr/>
        </p:nvSpPr>
        <p:spPr>
          <a:xfrm>
            <a:off x="640080" y="1188720"/>
            <a:ext cx="3657600" cy="365760"/>
          </a:xfrm>
          <a:prstGeom prst="rect">
            <a:avLst/>
          </a:prstGeom>
          <a:noFill/>
          <a:ln/>
        </p:spPr>
        <p:txBody>
          <a:bodyPr wrap="square" lIns="0" tIns="0" rIns="0" bIns="0" rtlCol="0" anchor="t"/>
          <a:lstStyle/>
          <a:p>
            <a:pPr indent="0" marL="0">
              <a:buNone/>
            </a:pPr>
            <a:r>
              <a:rPr lang="en-US" sz="1500" b="1" dirty="0">
                <a:solidFill>
                  <a:schemeClr val="tx2"/>
                </a:solidFill>
              </a:rPr>
              <a:t>Question-réponse sur le KG</a:t>
            </a:r>
            <a:endParaRPr lang="en-US" sz="1500" dirty="0"/>
          </a:p>
        </p:txBody>
      </p:sp>
      <p:sp>
        <p:nvSpPr>
          <p:cNvPr id="5" name="Text 3"/>
          <p:cNvSpPr txBox="1"/>
          <p:nvPr/>
        </p:nvSpPr>
        <p:spPr>
          <a:xfrm>
            <a:off x="640080" y="1600200"/>
            <a:ext cx="3657600" cy="16002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1"/>
                </a:solidFill>
              </a:rPr>
              <a:t>Where was Marie Curie born? → Russian Empire, Warsaw</a:t>
            </a:r>
            <a:endParaRPr lang="en-US" sz="1400" dirty="0"/>
          </a:p>
          <a:p>
            <a:pPr marL="342900" indent="-342900">
              <a:spcAft>
                <a:spcPts val="600"/>
              </a:spcAft>
              <a:buSzPct val="100000"/>
              <a:buChar char="•"/>
            </a:pPr>
            <a:r>
              <a:rPr lang="en-US" sz="1100" dirty="0">
                <a:solidFill>
                  <a:schemeClr val="tx1"/>
                </a:solidFill>
              </a:rPr>
              <a:t>Who worked at CERN? → Francis Halzen</a:t>
            </a:r>
            <a:endParaRPr lang="en-US" sz="1400" dirty="0"/>
          </a:p>
          <a:p>
            <a:pPr marL="342900" indent="-342900">
              <a:spcAft>
                <a:spcPts val="600"/>
              </a:spcAft>
              <a:buSzPct val="100000"/>
              <a:buChar char="•"/>
            </a:pPr>
            <a:r>
              <a:rPr lang="en-US" sz="1100" dirty="0">
                <a:solidFill>
                  <a:schemeClr val="tx1"/>
                </a:solidFill>
              </a:rPr>
              <a:t>Who worked at Bell Labs? → Arthur Ashkin, John Bardeen</a:t>
            </a:r>
            <a:endParaRPr lang="en-US" sz="1400" dirty="0"/>
          </a:p>
          <a:p>
            <a:pPr marL="342900" indent="-342900">
              <a:spcAft>
                <a:spcPts val="600"/>
              </a:spcAft>
              <a:buSzPct val="100000"/>
              <a:buChar char="•"/>
            </a:pPr>
            <a:r>
              <a:rPr lang="en-US" sz="1100" dirty="0">
                <a:solidFill>
                  <a:schemeClr val="tx1"/>
                </a:solidFill>
              </a:rPr>
              <a:t>Which awards did Enrico Fermi receive? → Nobel Prize in Physics</a:t>
            </a:r>
            <a:endParaRPr lang="en-US" sz="1400" dirty="0"/>
          </a:p>
        </p:txBody>
      </p:sp>
      <p:sp>
        <p:nvSpPr>
          <p:cNvPr id="6" name="Text 4"/>
          <p:cNvSpPr txBox="1"/>
          <p:nvPr/>
        </p:nvSpPr>
        <p:spPr>
          <a:xfrm>
            <a:off x="640080" y="3154680"/>
            <a:ext cx="3657600" cy="640080"/>
          </a:xfrm>
          <a:prstGeom prst="rect">
            <a:avLst/>
          </a:prstGeom>
          <a:noFill/>
          <a:ln/>
        </p:spPr>
        <p:txBody>
          <a:bodyPr wrap="square" lIns="0" tIns="0" rIns="0" bIns="0" rtlCol="0" anchor="t"/>
          <a:lstStyle/>
          <a:p>
            <a:pPr indent="0" marL="0">
              <a:buNone/>
            </a:pPr>
            <a:r>
              <a:rPr lang="en-US" sz="1100" dirty="0">
                <a:solidFill>
                  <a:schemeClr val="accent4"/>
                </a:solidFill>
              </a:rPr>
              <a:t>Erreur typique du LLM : pour Enrico Fermi, il liste « Enrico Fermi Award » et « Fermilab » comme prix reçus (nommé d'après ≠ reçu par)</a:t>
            </a:r>
            <a:endParaRPr lang="en-US" sz="1100" dirty="0"/>
          </a:p>
        </p:txBody>
      </p:sp>
      <p:sp>
        <p:nvSpPr>
          <p:cNvPr id="7" name="Text 5"/>
          <p:cNvSpPr txBox="1"/>
          <p:nvPr/>
        </p:nvSpPr>
        <p:spPr>
          <a:xfrm>
            <a:off x="640080" y="3840480"/>
            <a:ext cx="3657600" cy="640080"/>
          </a:xfrm>
          <a:prstGeom prst="rect">
            <a:avLst/>
          </a:prstGeom>
          <a:noFill/>
          <a:ln/>
        </p:spPr>
        <p:txBody>
          <a:bodyPr wrap="square" lIns="0" tIns="0" rIns="0" bIns="0" rtlCol="0" anchor="t"/>
          <a:lstStyle/>
          <a:p>
            <a:pPr indent="0" marL="0">
              <a:buNone/>
            </a:pPr>
            <a:r>
              <a:rPr lang="en-US" sz="1100" i="1" dirty="0">
                <a:solidFill>
                  <a:srgbClr val="4A5568"/>
                </a:solidFill>
              </a:rPr>
              <a:t>Aussi : recommandation de profils proches (Jaccard), recherche à facettes, enrichissement de Wikidata</a:t>
            </a:r>
            <a:endParaRPr lang="en-US" sz="1100" dirty="0"/>
          </a:p>
        </p:txBody>
      </p:sp>
      <p:sp>
        <p:nvSpPr>
          <p:cNvPr id="8" name="carte ambiguïtés"/>
          <p:cNvSpPr/>
          <p:nvPr/>
        </p:nvSpPr>
        <p:spPr>
          <a:xfrm>
            <a:off x="4709160" y="1097280"/>
            <a:ext cx="3977640" cy="3474720"/>
          </a:xfrm>
          <a:prstGeom prst="roundRect">
            <a:avLst>
              <a:gd name="adj" fmla="val 2105"/>
            </a:avLst>
          </a:prstGeom>
          <a:solidFill>
            <a:schemeClr val="bg2"/>
          </a:solidFill>
          <a:ln w="12700">
            <a:solidFill>
              <a:schemeClr val="bg2"/>
            </a:solidFill>
            <a:prstDash val="solid"/>
          </a:ln>
        </p:spPr>
      </p:sp>
      <p:sp>
        <p:nvSpPr>
          <p:cNvPr id="9" name="Text 7"/>
          <p:cNvSpPr txBox="1"/>
          <p:nvPr/>
        </p:nvSpPr>
        <p:spPr>
          <a:xfrm>
            <a:off x="4892040" y="1188720"/>
            <a:ext cx="3657600" cy="365760"/>
          </a:xfrm>
          <a:prstGeom prst="rect">
            <a:avLst/>
          </a:prstGeom>
          <a:noFill/>
          <a:ln/>
        </p:spPr>
        <p:txBody>
          <a:bodyPr wrap="square" lIns="0" tIns="0" rIns="0" bIns="0" rtlCol="0" anchor="t"/>
          <a:lstStyle/>
          <a:p>
            <a:pPr indent="0" marL="0">
              <a:buNone/>
            </a:pPr>
            <a:r>
              <a:rPr lang="en-US" sz="1500" b="1" dirty="0">
                <a:solidFill>
                  <a:schemeClr val="tx2"/>
                </a:solidFill>
              </a:rPr>
              <a:t>Ambiguïté et polysémie</a:t>
            </a:r>
            <a:endParaRPr lang="en-US" sz="1500" dirty="0"/>
          </a:p>
        </p:txBody>
      </p:sp>
      <p:sp>
        <p:nvSpPr>
          <p:cNvPr id="10" name="Text 8"/>
          <p:cNvSpPr txBox="1"/>
          <p:nvPr/>
        </p:nvSpPr>
        <p:spPr>
          <a:xfrm>
            <a:off x="4892040" y="1600200"/>
            <a:ext cx="3657600" cy="2834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Columbia : université ou pays ; Lawrence : personne ou laboratoire</a:t>
            </a:r>
            <a:endParaRPr lang="en-US" sz="1400" dirty="0"/>
          </a:p>
          <a:p>
            <a:pPr marL="342900" indent="-342900">
              <a:spcAft>
                <a:spcPts val="600"/>
              </a:spcAft>
              <a:buSzPct val="100000"/>
              <a:buChar char="•"/>
            </a:pPr>
            <a:r>
              <a:rPr lang="en-US" sz="1200" dirty="0">
                <a:solidFill>
                  <a:schemeClr val="tx1"/>
                </a:solidFill>
              </a:rPr>
              <a:t>Curie, Bohr : personne ou institut</a:t>
            </a:r>
            <a:endParaRPr lang="en-US" sz="1400" dirty="0"/>
          </a:p>
          <a:p>
            <a:pPr marL="342900" indent="-342900">
              <a:spcAft>
                <a:spcPts val="600"/>
              </a:spcAft>
              <a:buSzPct val="100000"/>
              <a:buChar char="•"/>
            </a:pPr>
            <a:r>
              <a:rPr lang="en-US" sz="1200" dirty="0">
                <a:solidFill>
                  <a:schemeClr val="tx1"/>
                </a:solidFill>
              </a:rPr>
              <a:t>received : un prix ou un diplôme</a:t>
            </a:r>
            <a:endParaRPr lang="en-US" sz="1400" dirty="0"/>
          </a:p>
          <a:p>
            <a:pPr marL="342900" indent="-342900">
              <a:spcAft>
                <a:spcPts val="600"/>
              </a:spcAft>
              <a:buSzPct val="100000"/>
              <a:buChar char="•"/>
            </a:pPr>
            <a:r>
              <a:rPr lang="en-US" sz="1200" dirty="0">
                <a:solidFill>
                  <a:schemeClr val="tx1"/>
                </a:solidFill>
              </a:rPr>
              <a:t>Coréférence : la plupart des faits sont dits avec he/she</a:t>
            </a:r>
            <a:endParaRPr lang="en-US" sz="1400" dirty="0"/>
          </a:p>
          <a:p>
            <a:pPr marL="342900" indent="-342900">
              <a:spcAft>
                <a:spcPts val="600"/>
              </a:spcAft>
              <a:buSzPct val="100000"/>
              <a:buChar char="•"/>
            </a:pPr>
            <a:r>
              <a:rPr lang="en-US" sz="1200" dirty="0">
                <a:solidFill>
                  <a:schemeClr val="tx1"/>
                </a:solidFill>
              </a:rPr>
              <a:t>Pas de liage : UC Berkeley ≠ University of California, Berkeley</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91"/>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57200"/>
            <a:ext cx="8046720" cy="73152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Conclusion</a:t>
            </a:r>
            <a:endParaRPr lang="en-US" sz="3200" dirty="0"/>
          </a:p>
        </p:txBody>
      </p:sp>
      <p:sp>
        <p:nvSpPr>
          <p:cNvPr id="3" name="puce Classique"/>
          <p:cNvSpPr/>
          <p:nvPr/>
        </p:nvSpPr>
        <p:spPr>
          <a:xfrm>
            <a:off x="548640" y="1508760"/>
            <a:ext cx="365760" cy="365760"/>
          </a:xfrm>
          <a:prstGeom prst="ellipse">
            <a:avLst/>
          </a:prstGeom>
          <a:solidFill>
            <a:schemeClr val="accent2"/>
          </a:solidFill>
          <a:ln w="12700">
            <a:solidFill>
              <a:schemeClr val="accent2"/>
            </a:solidFill>
            <a:prstDash val="solid"/>
          </a:ln>
        </p:spPr>
      </p:sp>
      <p:sp>
        <p:nvSpPr>
          <p:cNvPr id="4" name="Text 2"/>
          <p:cNvSpPr txBox="1"/>
          <p:nvPr/>
        </p:nvSpPr>
        <p:spPr>
          <a:xfrm>
            <a:off x="1097280" y="1463040"/>
            <a:ext cx="1645920" cy="457200"/>
          </a:xfrm>
          <a:prstGeom prst="rect">
            <a:avLst/>
          </a:prstGeom>
          <a:noFill/>
          <a:ln/>
        </p:spPr>
        <p:txBody>
          <a:bodyPr wrap="square" lIns="0" tIns="0" rIns="0" bIns="0" rtlCol="0" anchor="t"/>
          <a:lstStyle/>
          <a:p>
            <a:pPr indent="0" marL="0">
              <a:buNone/>
            </a:pPr>
            <a:r>
              <a:rPr lang="en-US" sz="1800" b="1" dirty="0">
                <a:solidFill>
                  <a:schemeClr val="accent2"/>
                </a:solidFill>
              </a:rPr>
              <a:t>Classique</a:t>
            </a:r>
            <a:endParaRPr lang="en-US" sz="1800" dirty="0"/>
          </a:p>
        </p:txBody>
      </p:sp>
      <p:sp>
        <p:nvSpPr>
          <p:cNvPr id="5" name="Text 3"/>
          <p:cNvSpPr txBox="1"/>
          <p:nvPr/>
        </p:nvSpPr>
        <p:spPr>
          <a:xfrm>
            <a:off x="2743200" y="1463040"/>
            <a:ext cx="5852160" cy="822960"/>
          </a:xfrm>
          <a:prstGeom prst="rect">
            <a:avLst/>
          </a:prstGeom>
          <a:noFill/>
          <a:ln/>
        </p:spPr>
        <p:txBody>
          <a:bodyPr wrap="square" lIns="0" tIns="0" rIns="0" bIns="0" rtlCol="0" anchor="t"/>
          <a:lstStyle/>
          <a:p>
            <a:pPr indent="0" marL="0">
              <a:buNone/>
            </a:pPr>
            <a:r>
              <a:rPr lang="en-US" sz="1500" dirty="0">
                <a:solidFill>
                  <a:schemeClr val="bg1"/>
                </a:solidFill>
              </a:rPr>
              <a:t>Précis, rapide, traçable ; demande des règles et des données annotées pour la NER</a:t>
            </a:r>
            <a:endParaRPr lang="en-US" sz="1500" dirty="0"/>
          </a:p>
        </p:txBody>
      </p:sp>
      <p:sp>
        <p:nvSpPr>
          <p:cNvPr id="6" name="puce LLM"/>
          <p:cNvSpPr/>
          <p:nvPr/>
        </p:nvSpPr>
        <p:spPr>
          <a:xfrm>
            <a:off x="548640" y="2514600"/>
            <a:ext cx="365760" cy="365760"/>
          </a:xfrm>
          <a:prstGeom prst="ellipse">
            <a:avLst/>
          </a:prstGeom>
          <a:solidFill>
            <a:schemeClr val="accent2"/>
          </a:solidFill>
          <a:ln w="12700">
            <a:solidFill>
              <a:schemeClr val="accent2"/>
            </a:solidFill>
            <a:prstDash val="solid"/>
          </a:ln>
        </p:spPr>
      </p:sp>
      <p:sp>
        <p:nvSpPr>
          <p:cNvPr id="7" name="Text 5"/>
          <p:cNvSpPr txBox="1"/>
          <p:nvPr/>
        </p:nvSpPr>
        <p:spPr>
          <a:xfrm>
            <a:off x="1097280" y="2468880"/>
            <a:ext cx="1645920" cy="457200"/>
          </a:xfrm>
          <a:prstGeom prst="rect">
            <a:avLst/>
          </a:prstGeom>
          <a:noFill/>
          <a:ln/>
        </p:spPr>
        <p:txBody>
          <a:bodyPr wrap="square" lIns="0" tIns="0" rIns="0" bIns="0" rtlCol="0" anchor="t"/>
          <a:lstStyle/>
          <a:p>
            <a:pPr indent="0" marL="0">
              <a:buNone/>
            </a:pPr>
            <a:r>
              <a:rPr lang="en-US" sz="1800" b="1" dirty="0">
                <a:solidFill>
                  <a:schemeClr val="accent2"/>
                </a:solidFill>
              </a:rPr>
              <a:t>LLM</a:t>
            </a:r>
            <a:endParaRPr lang="en-US" sz="1800" dirty="0"/>
          </a:p>
        </p:txBody>
      </p:sp>
      <p:sp>
        <p:nvSpPr>
          <p:cNvPr id="8" name="Text 6"/>
          <p:cNvSpPr txBox="1"/>
          <p:nvPr/>
        </p:nvSpPr>
        <p:spPr>
          <a:xfrm>
            <a:off x="2743200" y="2468880"/>
            <a:ext cx="5852160" cy="822960"/>
          </a:xfrm>
          <a:prstGeom prst="rect">
            <a:avLst/>
          </a:prstGeom>
          <a:noFill/>
          <a:ln/>
        </p:spPr>
        <p:txBody>
          <a:bodyPr wrap="square" lIns="0" tIns="0" rIns="0" bIns="0" rtlCol="0" anchor="t"/>
          <a:lstStyle/>
          <a:p>
            <a:pPr indent="0" marL="0">
              <a:buNone/>
            </a:pPr>
            <a:r>
              <a:rPr lang="en-US" sz="1500" dirty="0">
                <a:solidFill>
                  <a:schemeClr val="bg1"/>
                </a:solidFill>
              </a:rPr>
              <a:t>Aucune règle à écrire, schéma modifiable par prompt ; lent sur CPU et parfois halluciné</a:t>
            </a:r>
            <a:endParaRPr lang="en-US" sz="1500" dirty="0"/>
          </a:p>
        </p:txBody>
      </p:sp>
      <p:sp>
        <p:nvSpPr>
          <p:cNvPr id="9" name="puce Ensuite"/>
          <p:cNvSpPr/>
          <p:nvPr/>
        </p:nvSpPr>
        <p:spPr>
          <a:xfrm>
            <a:off x="548640" y="3520440"/>
            <a:ext cx="365760" cy="365760"/>
          </a:xfrm>
          <a:prstGeom prst="ellipse">
            <a:avLst/>
          </a:prstGeom>
          <a:solidFill>
            <a:schemeClr val="accent2"/>
          </a:solidFill>
          <a:ln w="12700">
            <a:solidFill>
              <a:schemeClr val="accent2"/>
            </a:solidFill>
            <a:prstDash val="solid"/>
          </a:ln>
        </p:spPr>
      </p:sp>
      <p:sp>
        <p:nvSpPr>
          <p:cNvPr id="10" name="Text 8"/>
          <p:cNvSpPr txBox="1"/>
          <p:nvPr/>
        </p:nvSpPr>
        <p:spPr>
          <a:xfrm>
            <a:off x="1097280" y="3474720"/>
            <a:ext cx="1645920" cy="457200"/>
          </a:xfrm>
          <a:prstGeom prst="rect">
            <a:avLst/>
          </a:prstGeom>
          <a:noFill/>
          <a:ln/>
        </p:spPr>
        <p:txBody>
          <a:bodyPr wrap="square" lIns="0" tIns="0" rIns="0" bIns="0" rtlCol="0" anchor="t"/>
          <a:lstStyle/>
          <a:p>
            <a:pPr indent="0" marL="0">
              <a:buNone/>
            </a:pPr>
            <a:r>
              <a:rPr lang="en-US" sz="1800" b="1" dirty="0">
                <a:solidFill>
                  <a:schemeClr val="accent2"/>
                </a:solidFill>
              </a:rPr>
              <a:t>Ensuite</a:t>
            </a:r>
            <a:endParaRPr lang="en-US" sz="1800" dirty="0"/>
          </a:p>
        </p:txBody>
      </p:sp>
      <p:sp>
        <p:nvSpPr>
          <p:cNvPr id="11" name="Text 9"/>
          <p:cNvSpPr txBox="1"/>
          <p:nvPr/>
        </p:nvSpPr>
        <p:spPr>
          <a:xfrm>
            <a:off x="2743200" y="3474720"/>
            <a:ext cx="5852160" cy="822960"/>
          </a:xfrm>
          <a:prstGeom prst="rect">
            <a:avLst/>
          </a:prstGeom>
          <a:noFill/>
          <a:ln/>
        </p:spPr>
        <p:txBody>
          <a:bodyPr wrap="square" lIns="0" tIns="0" rIns="0" bIns="0" rtlCol="0" anchor="t"/>
          <a:lstStyle/>
          <a:p>
            <a:pPr indent="0" marL="0">
              <a:buNone/>
            </a:pPr>
            <a:r>
              <a:rPr lang="en-US" sz="1500" dirty="0">
                <a:solidFill>
                  <a:schemeClr val="bg1"/>
                </a:solidFill>
              </a:rPr>
              <a:t>Liage d'entités vers Wikidata, vraie coréférence, LLM plus gros avec vérification des triplets</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EDA"/>
                </a:solidFill>
              </a:defRPr>
            </a:lvl1pPr>
          </a:lstStyle>
          <a:p>
            <a:pPr algn="l"/>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Nobel KG">
  <a:themeElements>
    <a:clrScheme name="Nobel KG">
      <a:dk1>
        <a:srgbClr val="1B2333"/>
      </a:dk1>
      <a:lt1>
        <a:srgbClr val="FFFFFF"/>
      </a:lt1>
      <a:dk2>
        <a:srgbClr val="14213D"/>
      </a:dk2>
      <a:lt2>
        <a:srgbClr val="EEF1F6"/>
      </a:lt2>
      <a:accent1>
        <a:srgbClr val="14213D"/>
      </a:accent1>
      <a:accent2>
        <a:srgbClr val="C9A227"/>
      </a:accent2>
      <a:accent3>
        <a:srgbClr val="2A9D8F"/>
      </a:accent3>
      <a:accent4>
        <a:srgbClr val="C44E52"/>
      </a:accent4>
      <a:accent5>
        <a:srgbClr val="6C7A91"/>
      </a:accent5>
      <a:accent6>
        <a:srgbClr val="E9C46A"/>
      </a:accent6>
      <a:hlink>
        <a:srgbClr val="2A9D8F"/>
      </a:hlink>
      <a:folHlink>
        <a:srgbClr val="6C7A91"/>
      </a:folHlink>
    </a:clrScheme>
    <a:fontScheme name="Nobel K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Extraction — KG des lauréats du Nobel de physique</dc:title>
  <dc:subject>PptxGenJS Presentation</dc:subject>
  <dc:creator>PptxGenJS</dc:creator>
  <cp:lastModifiedBy>PptxGenJS</cp:lastModifiedBy>
  <cp:revision>1</cp:revision>
  <dcterms:created xsi:type="dcterms:W3CDTF">2026-10-30T00:19:52Z</dcterms:created>
  <dcterms:modified xsi:type="dcterms:W3CDTF">2026-10-30T00:19:52Z</dcterms:modified>
</cp:coreProperties>
</file>